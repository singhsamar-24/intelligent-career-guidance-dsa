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3" name="TextBox 2"/>
          <p:cNvSpPr txBox="1"/>
          <p:nvPr/>
        </p:nvSpPr>
        <p:spPr>
          <a:xfrm>
            <a:off x="548640" y="320040"/>
            <a:ext cx="8686800" cy="640080"/>
          </a:xfrm>
          <a:prstGeom prst="rect">
            <a:avLst/>
          </a:prstGeom>
          <a:noFill/>
        </p:spPr>
        <p:txBody>
          <a:bodyPr wrap="none">
            <a:spAutoFit/>
          </a:bodyPr>
          <a:lstStyle/>
          <a:p>
            <a:pPr>
              <a:defRPr sz="2200" b="1">
                <a:solidFill>
                  <a:srgbClr val="1F487C"/>
                </a:solidFill>
                <a:latin typeface="Arial"/>
              </a:defRPr>
            </a:pPr>
            <a:r>
              <a:t>DATA STRUCTURES AND ALGORITHMS PBL</a:t>
            </a:r>
          </a:p>
        </p:txBody>
      </p:sp>
      <p:sp>
        <p:nvSpPr>
          <p:cNvPr id="4" name="TextBox 3"/>
          <p:cNvSpPr txBox="1"/>
          <p:nvPr/>
        </p:nvSpPr>
        <p:spPr>
          <a:xfrm>
            <a:off x="548640" y="1005840"/>
            <a:ext cx="8686800" cy="1005840"/>
          </a:xfrm>
          <a:prstGeom prst="rect">
            <a:avLst/>
          </a:prstGeom>
          <a:noFill/>
        </p:spPr>
        <p:txBody>
          <a:bodyPr wrap="none">
            <a:spAutoFit/>
          </a:bodyPr>
          <a:lstStyle/>
          <a:p>
            <a:pPr>
              <a:defRPr sz="3400" b="1">
                <a:solidFill>
                  <a:srgbClr val="1A1A1A"/>
                </a:solidFill>
                <a:latin typeface="Arial"/>
              </a:defRPr>
            </a:pPr>
            <a:r>
              <a:t>Intelligent Career Guidance Platform</a:t>
            </a:r>
          </a:p>
        </p:txBody>
      </p:sp>
      <p:sp>
        <p:nvSpPr>
          <p:cNvPr id="5" name="TextBox 4"/>
          <p:cNvSpPr txBox="1"/>
          <p:nvPr/>
        </p:nvSpPr>
        <p:spPr>
          <a:xfrm>
            <a:off x="548640" y="2194560"/>
            <a:ext cx="7589520" cy="4114800"/>
          </a:xfrm>
          <a:prstGeom prst="rect">
            <a:avLst/>
          </a:prstGeom>
          <a:noFill/>
        </p:spPr>
        <p:txBody>
          <a:bodyPr wrap="square">
            <a:spAutoFit/>
          </a:bodyPr>
          <a:lstStyle/>
          <a:p>
            <a:pPr>
              <a:spcAft>
                <a:spcPts val="1200"/>
              </a:spcAft>
            </a:pPr>
            <a:r>
              <a:rPr sz="1550" b="1">
                <a:solidFill>
                  <a:srgbClr val="1F487C"/>
                </a:solidFill>
                <a:latin typeface="Arial"/>
              </a:rPr>
              <a:t>Subject: </a:t>
            </a:r>
            <a:r>
              <a:rPr sz="1550" b="0">
                <a:solidFill>
                  <a:srgbClr val="1A1A1A"/>
                </a:solidFill>
                <a:latin typeface="Arial"/>
              </a:rPr>
              <a:t>Data Structures and Algorithms (CCSE0301)</a:t>
            </a:r>
          </a:p>
          <a:p>
            <a:pPr>
              <a:spcAft>
                <a:spcPts val="1200"/>
              </a:spcAft>
            </a:pPr>
            <a:r>
              <a:rPr sz="1550" b="1">
                <a:solidFill>
                  <a:srgbClr val="1F487C"/>
                </a:solidFill>
                <a:latin typeface="Arial"/>
              </a:rPr>
              <a:t>Institution: </a:t>
            </a:r>
            <a:r>
              <a:rPr sz="1550" b="0">
                <a:solidFill>
                  <a:srgbClr val="1A1A1A"/>
                </a:solidFill>
                <a:latin typeface="Arial"/>
              </a:rPr>
              <a:t>NIET Greater Noida</a:t>
            </a:r>
          </a:p>
          <a:p>
            <a:pPr>
              <a:spcAft>
                <a:spcPts val="1200"/>
              </a:spcAft>
            </a:pPr>
            <a:r>
              <a:rPr sz="1550" b="1">
                <a:solidFill>
                  <a:srgbClr val="1F487C"/>
                </a:solidFill>
                <a:latin typeface="Arial"/>
              </a:rPr>
              <a:t>Department: </a:t>
            </a:r>
            <a:r>
              <a:rPr sz="1550" b="0">
                <a:solidFill>
                  <a:srgbClr val="1A1A1A"/>
                </a:solidFill>
                <a:latin typeface="Arial"/>
              </a:rPr>
              <a:t>CSE — Artificial Intelligence</a:t>
            </a:r>
          </a:p>
          <a:p>
            <a:pPr>
              <a:spcAft>
                <a:spcPts val="1200"/>
              </a:spcAft>
            </a:pPr>
            <a:r>
              <a:rPr sz="1550" b="1">
                <a:solidFill>
                  <a:srgbClr val="1F487C"/>
                </a:solidFill>
                <a:latin typeface="Arial"/>
              </a:rPr>
              <a:t>Assignment Type: </a:t>
            </a:r>
            <a:r>
              <a:rPr sz="1550" b="0">
                <a:solidFill>
                  <a:srgbClr val="1A1A1A"/>
                </a:solidFill>
                <a:latin typeface="Arial"/>
              </a:rPr>
              <a:t>Capstone Individual Project (DSA PBL)</a:t>
            </a:r>
          </a:p>
          <a:p>
            <a:pPr>
              <a:spcAft>
                <a:spcPts val="1200"/>
              </a:spcAft>
            </a:pPr>
            <a:r>
              <a:rPr sz="1550" b="1">
                <a:solidFill>
                  <a:srgbClr val="1F487C"/>
                </a:solidFill>
                <a:latin typeface="Arial"/>
              </a:rPr>
              <a:t>Student Name: </a:t>
            </a:r>
            <a:r>
              <a:rPr sz="1550" b="1">
                <a:solidFill>
                  <a:srgbClr val="006FC0"/>
                </a:solidFill>
                <a:latin typeface="Arial"/>
              </a:rPr>
              <a:t>Samar Singh</a:t>
            </a:r>
          </a:p>
          <a:p>
            <a:pPr>
              <a:spcAft>
                <a:spcPts val="1200"/>
              </a:spcAft>
            </a:pPr>
            <a:r>
              <a:rPr sz="1550" b="1">
                <a:solidFill>
                  <a:srgbClr val="1F487C"/>
                </a:solidFill>
                <a:latin typeface="Arial"/>
              </a:rPr>
              <a:t>Roll Number: </a:t>
            </a:r>
            <a:r>
              <a:rPr sz="1550" b="1">
                <a:solidFill>
                  <a:srgbClr val="006FC0"/>
                </a:solidFill>
                <a:latin typeface="Arial"/>
              </a:rPr>
              <a:t>2501331940042</a:t>
            </a:r>
          </a:p>
          <a:p>
            <a:pPr>
              <a:spcAft>
                <a:spcPts val="1200"/>
              </a:spcAft>
            </a:pPr>
            <a:r>
              <a:rPr sz="1550" b="1">
                <a:solidFill>
                  <a:srgbClr val="1F487C"/>
                </a:solidFill>
                <a:latin typeface="Arial"/>
              </a:rPr>
              <a:t>Faculty Mentor: </a:t>
            </a:r>
            <a:r>
              <a:rPr sz="1550" b="0">
                <a:solidFill>
                  <a:srgbClr val="1A1A1A"/>
                </a:solidFill>
                <a:latin typeface="Arial"/>
              </a:rPr>
              <a:t>Mr. Vikash Tripathi (Assistant Professor)</a:t>
            </a:r>
          </a:p>
          <a:p>
            <a:pPr>
              <a:spcAft>
                <a:spcPts val="1200"/>
              </a:spcAft>
            </a:pPr>
            <a:r>
              <a:rPr sz="1550" b="1">
                <a:solidFill>
                  <a:srgbClr val="1F487C"/>
                </a:solidFill>
                <a:latin typeface="Arial"/>
              </a:rPr>
              <a:t>SDG Goal: </a:t>
            </a:r>
            <a:r>
              <a:rPr sz="1550" b="0">
                <a:solidFill>
                  <a:srgbClr val="1A1A1A"/>
                </a:solidFill>
                <a:latin typeface="Arial"/>
              </a:rPr>
              <a:t>SDG 4 – Quality Education</a:t>
            </a:r>
          </a:p>
        </p:txBody>
      </p:sp>
      <p:sp>
        <p:nvSpPr>
          <p:cNvPr id="6" name="Rounded Rectangle 5"/>
          <p:cNvSpPr/>
          <p:nvPr/>
        </p:nvSpPr>
        <p:spPr>
          <a:xfrm>
            <a:off x="8412480" y="2194560"/>
            <a:ext cx="3383280" cy="438912"/>
          </a:xfrm>
          <a:prstGeom prst="roundRect">
            <a:avLst/>
          </a:prstGeom>
          <a:noFill/>
          <a:ln w="19050">
            <a:solidFill>
              <a:srgbClr val="1F4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F487C"/>
                </a:solidFill>
                <a:latin typeface="Arial"/>
              </a:defRPr>
            </a:pPr>
            <a:r>
              <a:t>Career Platform  →  DSA Concept</a:t>
            </a:r>
          </a:p>
        </p:txBody>
      </p:sp>
      <p:sp>
        <p:nvSpPr>
          <p:cNvPr id="7" name="Rounded Rectangle 6"/>
          <p:cNvSpPr/>
          <p:nvPr/>
        </p:nvSpPr>
        <p:spPr>
          <a:xfrm>
            <a:off x="8412480" y="2788920"/>
            <a:ext cx="1508760" cy="585216"/>
          </a:xfrm>
          <a:prstGeom prst="round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F487C"/>
                </a:solidFill>
                <a:latin typeface="Arial"/>
              </a:defRPr>
            </a:pPr>
            <a:r>
              <a:t>Student Skill Profile</a:t>
            </a:r>
          </a:p>
        </p:txBody>
      </p:sp>
      <p:sp>
        <p:nvSpPr>
          <p:cNvPr id="8" name="Rectangle 7"/>
          <p:cNvSpPr/>
          <p:nvPr/>
        </p:nvSpPr>
        <p:spPr>
          <a:xfrm>
            <a:off x="9948672" y="3063239"/>
            <a:ext cx="292608" cy="254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68712" y="2788920"/>
            <a:ext cx="1527048" cy="585216"/>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Hash Table / Set</a:t>
            </a:r>
          </a:p>
        </p:txBody>
      </p:sp>
      <p:sp>
        <p:nvSpPr>
          <p:cNvPr id="10" name="Rounded Rectangle 9"/>
          <p:cNvSpPr/>
          <p:nvPr/>
        </p:nvSpPr>
        <p:spPr>
          <a:xfrm>
            <a:off x="8412480" y="3483863"/>
            <a:ext cx="1508760" cy="585216"/>
          </a:xfrm>
          <a:prstGeom prst="round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F487C"/>
                </a:solidFill>
                <a:latin typeface="Arial"/>
              </a:defRPr>
            </a:pPr>
            <a:r>
              <a:t>Career Knowledge Graph</a:t>
            </a:r>
          </a:p>
        </p:txBody>
      </p:sp>
      <p:sp>
        <p:nvSpPr>
          <p:cNvPr id="11" name="Rectangle 10"/>
          <p:cNvSpPr/>
          <p:nvPr/>
        </p:nvSpPr>
        <p:spPr>
          <a:xfrm>
            <a:off x="9948672" y="3758183"/>
            <a:ext cx="292608" cy="254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268712" y="3483863"/>
            <a:ext cx="1527048" cy="585216"/>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Directed Acyclic Graph</a:t>
            </a:r>
          </a:p>
        </p:txBody>
      </p:sp>
      <p:sp>
        <p:nvSpPr>
          <p:cNvPr id="13" name="Rounded Rectangle 12"/>
          <p:cNvSpPr/>
          <p:nvPr/>
        </p:nvSpPr>
        <p:spPr>
          <a:xfrm>
            <a:off x="8412480" y="4178807"/>
            <a:ext cx="1508760" cy="585216"/>
          </a:xfrm>
          <a:prstGeom prst="round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F487C"/>
                </a:solidFill>
                <a:latin typeface="Arial"/>
              </a:defRPr>
            </a:pPr>
            <a:r>
              <a:t>Shortest Learning Path</a:t>
            </a:r>
          </a:p>
        </p:txBody>
      </p:sp>
      <p:sp>
        <p:nvSpPr>
          <p:cNvPr id="14" name="Rectangle 13"/>
          <p:cNvSpPr/>
          <p:nvPr/>
        </p:nvSpPr>
        <p:spPr>
          <a:xfrm>
            <a:off x="9948672" y="4453127"/>
            <a:ext cx="292608" cy="254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68712" y="4178807"/>
            <a:ext cx="1527048" cy="585216"/>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Dijkstra's Algorithm</a:t>
            </a:r>
          </a:p>
        </p:txBody>
      </p:sp>
      <p:sp>
        <p:nvSpPr>
          <p:cNvPr id="16" name="Rounded Rectangle 15"/>
          <p:cNvSpPr/>
          <p:nvPr/>
        </p:nvSpPr>
        <p:spPr>
          <a:xfrm>
            <a:off x="8412480" y="4873751"/>
            <a:ext cx="1508760" cy="585216"/>
          </a:xfrm>
          <a:prstGeom prst="round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F487C"/>
                </a:solidFill>
                <a:latin typeface="Arial"/>
              </a:defRPr>
            </a:pPr>
            <a:r>
              <a:t>Skill Autocomplete</a:t>
            </a:r>
          </a:p>
        </p:txBody>
      </p:sp>
      <p:sp>
        <p:nvSpPr>
          <p:cNvPr id="17" name="Rectangle 16"/>
          <p:cNvSpPr/>
          <p:nvPr/>
        </p:nvSpPr>
        <p:spPr>
          <a:xfrm>
            <a:off x="9948672" y="5148071"/>
            <a:ext cx="292608" cy="254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268712" y="4873751"/>
            <a:ext cx="1527048" cy="585216"/>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Trie (Prefix Tree)</a:t>
            </a:r>
          </a:p>
        </p:txBody>
      </p:sp>
      <p:sp>
        <p:nvSpPr>
          <p:cNvPr id="19" name="Rounded Rectangle 18"/>
          <p:cNvSpPr/>
          <p:nvPr/>
        </p:nvSpPr>
        <p:spPr>
          <a:xfrm>
            <a:off x="8412480" y="5568695"/>
            <a:ext cx="1508760" cy="585216"/>
          </a:xfrm>
          <a:prstGeom prst="round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F487C"/>
                </a:solidFill>
                <a:latin typeface="Arial"/>
              </a:defRPr>
            </a:pPr>
            <a:r>
              <a:t>Deficit Prioritization</a:t>
            </a:r>
          </a:p>
        </p:txBody>
      </p:sp>
      <p:sp>
        <p:nvSpPr>
          <p:cNvPr id="20" name="Rectangle 19"/>
          <p:cNvSpPr/>
          <p:nvPr/>
        </p:nvSpPr>
        <p:spPr>
          <a:xfrm>
            <a:off x="9948672" y="5843015"/>
            <a:ext cx="292608" cy="25400"/>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268712" y="5568695"/>
            <a:ext cx="1527048" cy="585216"/>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Max-Priority Queue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INTRODUCTION</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2</a:t>
            </a:r>
          </a:p>
        </p:txBody>
      </p:sp>
      <p:sp>
        <p:nvSpPr>
          <p:cNvPr id="7" name="Rounded Rectangle 6"/>
          <p:cNvSpPr/>
          <p:nvPr/>
        </p:nvSpPr>
        <p:spPr>
          <a:xfrm>
            <a:off x="548640" y="1325880"/>
            <a:ext cx="6766560" cy="48920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6400800" cy="4526280"/>
          </a:xfrm>
          <a:prstGeom prst="rect">
            <a:avLst/>
          </a:prstGeom>
          <a:noFill/>
        </p:spPr>
        <p:txBody>
          <a:bodyPr wrap="square">
            <a:spAutoFit/>
          </a:bodyPr>
          <a:lstStyle/>
          <a:p>
            <a:r>
              <a:rPr sz="1550" b="1">
                <a:solidFill>
                  <a:srgbClr val="1F487C"/>
                </a:solidFill>
                <a:latin typeface="Arial"/>
              </a:rPr>
              <a:t>Intelligent Career Guidance Platform </a:t>
            </a:r>
            <a:r>
              <a:rPr sz="1400">
                <a:solidFill>
                  <a:srgbClr val="1A1A1A"/>
                </a:solidFill>
                <a:latin typeface="Arial"/>
              </a:rPr>
              <a:t>is an algorithm-driven academic roadmap and competency recommendation system developed as a Capstone PBL project for Data Structures and Algorithms (CCSE0301).
</a:t>
            </a:r>
          </a:p>
          <a:p>
            <a:pPr>
              <a:spcAft>
                <a:spcPts val="1000"/>
              </a:spcAft>
            </a:pPr>
            <a:r>
              <a:rPr sz="1300" b="1">
                <a:solidFill>
                  <a:srgbClr val="1F487C"/>
                </a:solidFill>
                <a:latin typeface="Arial"/>
              </a:rPr>
              <a:t>•  Core Mission: </a:t>
            </a:r>
            <a:r>
              <a:rPr sz="1250">
                <a:solidFill>
                  <a:srgbClr val="1A1A1A"/>
                </a:solidFill>
                <a:latin typeface="Arial"/>
              </a:rPr>
              <a:t>Bridges the gap between academic education and industry competency requirements through formal graph theory, shortest-path optimization, and prefix retrieval.</a:t>
            </a:r>
          </a:p>
          <a:p>
            <a:pPr>
              <a:spcAft>
                <a:spcPts val="1000"/>
              </a:spcAft>
            </a:pPr>
            <a:r>
              <a:rPr sz="1300" b="1">
                <a:solidFill>
                  <a:srgbClr val="1F487C"/>
                </a:solidFill>
                <a:latin typeface="Arial"/>
              </a:rPr>
              <a:t>•  Rigorous Computer Science: </a:t>
            </a:r>
            <a:r>
              <a:rPr sz="1250">
                <a:solidFill>
                  <a:srgbClr val="1A1A1A"/>
                </a:solidFill>
                <a:latin typeface="Arial"/>
              </a:rPr>
              <a:t>Models career ecosystems as weighted Directed Acyclic Graphs (DAGs), where skills form vertices and prerequisite relationships establish directed edges.</a:t>
            </a:r>
          </a:p>
          <a:p>
            <a:pPr>
              <a:spcAft>
                <a:spcPts val="1000"/>
              </a:spcAft>
            </a:pPr>
            <a:r>
              <a:rPr sz="1300" b="1">
                <a:solidFill>
                  <a:srgbClr val="1F487C"/>
                </a:solidFill>
                <a:latin typeface="Arial"/>
              </a:rPr>
              <a:t>•  Algorithmic Engine: </a:t>
            </a:r>
            <a:r>
              <a:rPr sz="1250">
                <a:solidFill>
                  <a:srgbClr val="1A1A1A"/>
                </a:solidFill>
                <a:latin typeface="Arial"/>
              </a:rPr>
              <a:t>Integrates Dijkstra's algorithm for minimum-effort milestones, Kahn's topological sort for cycle-free prerequisite ordering, and Tries for sub-millisecond skill searches.</a:t>
            </a:r>
          </a:p>
          <a:p>
            <a:pPr>
              <a:spcAft>
                <a:spcPts val="1000"/>
              </a:spcAft>
            </a:pPr>
            <a:r>
              <a:rPr sz="1300" b="1">
                <a:solidFill>
                  <a:srgbClr val="1F487C"/>
                </a:solidFill>
                <a:latin typeface="Arial"/>
              </a:rPr>
              <a:t>•  Comprehensive Syllabus Alignment: </a:t>
            </a:r>
            <a:r>
              <a:rPr sz="1250">
                <a:solidFill>
                  <a:srgbClr val="1A1A1A"/>
                </a:solidFill>
                <a:latin typeface="Arial"/>
              </a:rPr>
              <a:t>Demonstrates practical implementations of Unit 2 (Queues, Stacks, Heaps), Unit 3 (Trees, BST, Tries), and Unit 4 &amp; 5 (Graphs &amp; Greedy Algorithms).</a:t>
            </a:r>
          </a:p>
          <a:p>
            <a:pPr>
              <a:spcAft>
                <a:spcPts val="1000"/>
              </a:spcAft>
            </a:pPr>
            <a:r>
              <a:rPr sz="1300" b="1">
                <a:solidFill>
                  <a:srgbClr val="1F487C"/>
                </a:solidFill>
                <a:latin typeface="Arial"/>
              </a:rPr>
              <a:t>•  Tangible Student Impact: </a:t>
            </a:r>
            <a:r>
              <a:rPr sz="1250">
                <a:solidFill>
                  <a:srgbClr val="1A1A1A"/>
                </a:solidFill>
                <a:latin typeface="Arial"/>
              </a:rPr>
              <a:t>Delivers custom curriculum sequencing, career feasibility metrics, and ranked skill deficit roadmaps via an interactive, high-performance web dashboard.</a:t>
            </a:r>
          </a:p>
        </p:txBody>
      </p:sp>
      <p:sp>
        <p:nvSpPr>
          <p:cNvPr id="9" name="Rounded Rectangle 8"/>
          <p:cNvSpPr/>
          <p:nvPr/>
        </p:nvSpPr>
        <p:spPr>
          <a:xfrm>
            <a:off x="7589520" y="1325880"/>
            <a:ext cx="4069080" cy="438912"/>
          </a:xfrm>
          <a:prstGeom prst="roundRect">
            <a:avLst/>
          </a:prstGeom>
          <a:noFill/>
          <a:ln w="19050">
            <a:solidFill>
              <a:srgbClr val="1F4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1F487C"/>
                </a:solidFill>
                <a:latin typeface="Arial"/>
              </a:defRPr>
            </a:pPr>
            <a:r>
              <a:t>Core DSA Concepts Demonstrated</a:t>
            </a:r>
          </a:p>
        </p:txBody>
      </p:sp>
      <p:sp>
        <p:nvSpPr>
          <p:cNvPr id="10" name="Rounded Rectangle 9"/>
          <p:cNvSpPr/>
          <p:nvPr/>
        </p:nvSpPr>
        <p:spPr>
          <a:xfrm>
            <a:off x="7589520" y="1901952"/>
            <a:ext cx="4069080" cy="566928"/>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rial"/>
              </a:defRPr>
            </a:pPr>
            <a:r>
              <a:t>Graph Theory &amp; DAG Prerequisite Models</a:t>
            </a:r>
          </a:p>
        </p:txBody>
      </p:sp>
      <p:sp>
        <p:nvSpPr>
          <p:cNvPr id="11" name="Rounded Rectangle 10"/>
          <p:cNvSpPr/>
          <p:nvPr/>
        </p:nvSpPr>
        <p:spPr>
          <a:xfrm>
            <a:off x="7589520" y="2578608"/>
            <a:ext cx="4069080" cy="566928"/>
          </a:xfrm>
          <a:prstGeom prst="round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rial"/>
              </a:defRPr>
            </a:pPr>
            <a:r>
              <a:t>Dijkstra &amp; BFS Shortest Path Traversal</a:t>
            </a:r>
          </a:p>
        </p:txBody>
      </p:sp>
      <p:sp>
        <p:nvSpPr>
          <p:cNvPr id="12" name="Rounded Rectangle 11"/>
          <p:cNvSpPr/>
          <p:nvPr/>
        </p:nvSpPr>
        <p:spPr>
          <a:xfrm>
            <a:off x="7589520" y="3255264"/>
            <a:ext cx="4069080" cy="566928"/>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rial"/>
              </a:defRPr>
            </a:pPr>
            <a:r>
              <a:t>Trie (Prefix Tree) Autocomplete Engine</a:t>
            </a:r>
          </a:p>
        </p:txBody>
      </p:sp>
      <p:sp>
        <p:nvSpPr>
          <p:cNvPr id="13" name="Rounded Rectangle 12"/>
          <p:cNvSpPr/>
          <p:nvPr/>
        </p:nvSpPr>
        <p:spPr>
          <a:xfrm>
            <a:off x="7589520" y="3931920"/>
            <a:ext cx="4069080" cy="566928"/>
          </a:xfrm>
          <a:prstGeom prst="round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rial"/>
              </a:defRPr>
            </a:pPr>
            <a:r>
              <a:t>Max-Priority Queue (Heap) Gap Sorter</a:t>
            </a:r>
          </a:p>
        </p:txBody>
      </p:sp>
      <p:sp>
        <p:nvSpPr>
          <p:cNvPr id="14" name="Rounded Rectangle 13"/>
          <p:cNvSpPr/>
          <p:nvPr/>
        </p:nvSpPr>
        <p:spPr>
          <a:xfrm>
            <a:off x="7589520" y="4608576"/>
            <a:ext cx="4069080" cy="566928"/>
          </a:xfrm>
          <a:prstGeom prst="round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rial"/>
              </a:defRPr>
            </a:pPr>
            <a:r>
              <a:t>Decision Trees &amp; Dynamic Programming Cache</a:t>
            </a:r>
          </a:p>
        </p:txBody>
      </p:sp>
      <p:sp>
        <p:nvSpPr>
          <p:cNvPr id="15" name="Rounded Rectangle 14"/>
          <p:cNvSpPr/>
          <p:nvPr/>
        </p:nvSpPr>
        <p:spPr>
          <a:xfrm>
            <a:off x="7589520" y="5321808"/>
            <a:ext cx="4069080" cy="896112"/>
          </a:xfrm>
          <a:prstGeom prst="roundRect">
            <a:avLst/>
          </a:prstGeom>
          <a:solidFill>
            <a:srgbClr val="DCE6F1"/>
          </a:solid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F487C"/>
                </a:solidFill>
                <a:latin typeface="Arial"/>
              </a:rPr>
              <a:t>SDG 4 — Quality Education
</a:t>
            </a:r>
            <a:r>
              <a:rPr sz="1050">
                <a:solidFill>
                  <a:srgbClr val="1A1A1A"/>
                </a:solidFill>
                <a:latin typeface="Arial"/>
              </a:rPr>
              <a:t>Ensures inclusive, equitable skill acquisition and empowers engineering undergraduates through personalized algorithmic learning pathways.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CAREER DOMAIN → DSA CONCEPTS</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3</a:t>
            </a:r>
          </a:p>
        </p:txBody>
      </p:sp>
      <p:graphicFrame>
        <p:nvGraphicFramePr>
          <p:cNvPr id="7" name="Table 6"/>
          <p:cNvGraphicFramePr>
            <a:graphicFrameLocks noGrp="1"/>
          </p:cNvGraphicFramePr>
          <p:nvPr/>
        </p:nvGraphicFramePr>
        <p:xfrm>
          <a:off x="777240" y="1280160"/>
          <a:ext cx="10607039" cy="4480560"/>
        </p:xfrm>
        <a:graphic>
          <a:graphicData uri="http://schemas.openxmlformats.org/drawingml/2006/table">
            <a:tbl>
              <a:tblPr firstRow="1" bandRow="1">
                <a:tableStyleId>{5C22544A-7EE6-4342-B048-85BDC9FD1C3A}</a:tableStyleId>
              </a:tblPr>
              <a:tblGrid>
                <a:gridCol w="3749039"/>
                <a:gridCol w="4389120"/>
                <a:gridCol w="2468880"/>
              </a:tblGrid>
              <a:tr h="407323">
                <a:tc>
                  <a:txBody>
                    <a:bodyPr wrap="square" anchor="ctr"/>
                    <a:lstStyle/>
                    <a:p>
                      <a:pPr algn="ctr">
                        <a:defRPr sz="1300" b="1">
                          <a:solidFill>
                            <a:srgbClr val="FFFFFF"/>
                          </a:solidFill>
                          <a:latin typeface="Arial"/>
                        </a:defRPr>
                      </a:pPr>
                      <a:r>
                        <a:t>Career Platform Component</a:t>
                      </a:r>
                    </a:p>
                  </a:txBody>
                  <a:tcPr>
                    <a:solidFill>
                      <a:srgbClr val="1F487C"/>
                    </a:solidFill>
                  </a:tcPr>
                </a:tc>
                <a:tc>
                  <a:txBody>
                    <a:bodyPr wrap="square" anchor="ctr"/>
                    <a:lstStyle/>
                    <a:p>
                      <a:pPr algn="ctr">
                        <a:defRPr sz="1300" b="1">
                          <a:solidFill>
                            <a:srgbClr val="FFFFFF"/>
                          </a:solidFill>
                          <a:latin typeface="Arial"/>
                        </a:defRPr>
                      </a:pPr>
                      <a:r>
                        <a:t>Data Structures &amp; Algorithms Concept</a:t>
                      </a:r>
                    </a:p>
                  </a:txBody>
                  <a:tcPr>
                    <a:solidFill>
                      <a:srgbClr val="1F487C"/>
                    </a:solidFill>
                  </a:tcPr>
                </a:tc>
                <a:tc>
                  <a:txBody>
                    <a:bodyPr wrap="square" anchor="ctr"/>
                    <a:lstStyle/>
                    <a:p>
                      <a:pPr algn="ctr">
                        <a:defRPr sz="1300" b="1">
                          <a:solidFill>
                            <a:srgbClr val="FFFFFF"/>
                          </a:solidFill>
                          <a:latin typeface="Arial"/>
                        </a:defRPr>
                      </a:pPr>
                      <a:r>
                        <a:t>Algorithmic Complexity</a:t>
                      </a:r>
                    </a:p>
                  </a:txBody>
                  <a:tcPr>
                    <a:solidFill>
                      <a:srgbClr val="1F487C"/>
                    </a:solidFill>
                  </a:tcPr>
                </a:tc>
              </a:tr>
              <a:tr h="407323">
                <a:tc>
                  <a:txBody>
                    <a:bodyPr wrap="square" anchor="ctr"/>
                    <a:lstStyle/>
                    <a:p>
                      <a:pPr algn="l">
                        <a:defRPr sz="1100" b="1">
                          <a:solidFill>
                            <a:srgbClr val="1F487C"/>
                          </a:solidFill>
                          <a:latin typeface="Arial"/>
                        </a:defRPr>
                      </a:pPr>
                      <a:r>
                        <a:t>Student Skill Inventory</a:t>
                      </a:r>
                    </a:p>
                  </a:txBody>
                  <a:tcPr>
                    <a:solidFill>
                      <a:srgbClr val="FFFFFF"/>
                    </a:solidFill>
                  </a:tcPr>
                </a:tc>
                <a:tc>
                  <a:txBody>
                    <a:bodyPr wrap="square" anchor="ctr"/>
                    <a:lstStyle/>
                    <a:p>
                      <a:pPr algn="l">
                        <a:defRPr sz="1100">
                          <a:solidFill>
                            <a:srgbClr val="1A1A1A"/>
                          </a:solidFill>
                          <a:latin typeface="Arial"/>
                        </a:defRPr>
                      </a:pPr>
                      <a:r>
                        <a:t>Hash Map / Set (Unique Key Mapping)</a:t>
                      </a:r>
                    </a:p>
                  </a:txBody>
                  <a:tcPr>
                    <a:solidFill>
                      <a:srgbClr val="FFFFFF"/>
                    </a:solidFill>
                  </a:tcPr>
                </a:tc>
                <a:tc>
                  <a:txBody>
                    <a:bodyPr wrap="square" anchor="ctr"/>
                    <a:lstStyle/>
                    <a:p>
                      <a:pPr algn="ctr">
                        <a:defRPr sz="1100" b="1">
                          <a:solidFill>
                            <a:srgbClr val="006FC0"/>
                          </a:solidFill>
                          <a:latin typeface="Arial"/>
                        </a:defRPr>
                      </a:pPr>
                      <a:r>
                        <a:t>O(1) average lookup</a:t>
                      </a:r>
                    </a:p>
                  </a:txBody>
                  <a:tcPr>
                    <a:solidFill>
                      <a:srgbClr val="FFFFFF"/>
                    </a:solidFill>
                  </a:tcPr>
                </a:tc>
              </a:tr>
              <a:tr h="407323">
                <a:tc>
                  <a:txBody>
                    <a:bodyPr wrap="square" anchor="ctr"/>
                    <a:lstStyle/>
                    <a:p>
                      <a:pPr algn="l">
                        <a:defRPr sz="1100" b="1">
                          <a:solidFill>
                            <a:srgbClr val="1F487C"/>
                          </a:solidFill>
                          <a:latin typeface="Arial"/>
                        </a:defRPr>
                      </a:pPr>
                      <a:r>
                        <a:t>Career Milestones &amp; Prerequisites</a:t>
                      </a:r>
                    </a:p>
                  </a:txBody>
                  <a:tcPr>
                    <a:solidFill>
                      <a:srgbClr val="F1F5FA"/>
                    </a:solidFill>
                  </a:tcPr>
                </a:tc>
                <a:tc>
                  <a:txBody>
                    <a:bodyPr wrap="square" anchor="ctr"/>
                    <a:lstStyle/>
                    <a:p>
                      <a:pPr algn="l">
                        <a:defRPr sz="1100">
                          <a:solidFill>
                            <a:srgbClr val="1A1A1A"/>
                          </a:solidFill>
                          <a:latin typeface="Arial"/>
                        </a:defRPr>
                      </a:pPr>
                      <a:r>
                        <a:t>Directed Acyclic Graph (DAG Nodes &amp; Edges)</a:t>
                      </a:r>
                    </a:p>
                  </a:txBody>
                  <a:tcPr>
                    <a:solidFill>
                      <a:srgbClr val="F1F5FA"/>
                    </a:solidFill>
                  </a:tcPr>
                </a:tc>
                <a:tc>
                  <a:txBody>
                    <a:bodyPr wrap="square" anchor="ctr"/>
                    <a:lstStyle/>
                    <a:p>
                      <a:pPr algn="l">
                        <a:defRPr sz="1100">
                          <a:solidFill>
                            <a:srgbClr val="1A1A1A"/>
                          </a:solidFill>
                          <a:latin typeface="Arial"/>
                        </a:defRPr>
                      </a:pPr>
                      <a:r>
                        <a:t>V vertices, E edges</a:t>
                      </a:r>
                    </a:p>
                  </a:txBody>
                  <a:tcPr>
                    <a:solidFill>
                      <a:srgbClr val="F1F5FA"/>
                    </a:solidFill>
                  </a:tcPr>
                </a:tc>
              </a:tr>
              <a:tr h="407323">
                <a:tc>
                  <a:txBody>
                    <a:bodyPr wrap="square" anchor="ctr"/>
                    <a:lstStyle/>
                    <a:p>
                      <a:pPr algn="l">
                        <a:defRPr sz="1100" b="1">
                          <a:solidFill>
                            <a:srgbClr val="1F487C"/>
                          </a:solidFill>
                          <a:latin typeface="Arial"/>
                        </a:defRPr>
                      </a:pPr>
                      <a:r>
                        <a:t>Optimal Learning Sequence</a:t>
                      </a:r>
                    </a:p>
                  </a:txBody>
                  <a:tcPr>
                    <a:solidFill>
                      <a:srgbClr val="FFFFFF"/>
                    </a:solidFill>
                  </a:tcPr>
                </a:tc>
                <a:tc>
                  <a:txBody>
                    <a:bodyPr wrap="square" anchor="ctr"/>
                    <a:lstStyle/>
                    <a:p>
                      <a:pPr algn="l">
                        <a:defRPr sz="1100">
                          <a:solidFill>
                            <a:srgbClr val="1A1A1A"/>
                          </a:solidFill>
                          <a:latin typeface="Arial"/>
                        </a:defRPr>
                      </a:pPr>
                      <a:r>
                        <a:t>Topological Sort (Kahn's / In-Degree Algorithm)</a:t>
                      </a:r>
                    </a:p>
                  </a:txBody>
                  <a:tcPr>
                    <a:solidFill>
                      <a:srgbClr val="FFFFFF"/>
                    </a:solidFill>
                  </a:tcPr>
                </a:tc>
                <a:tc>
                  <a:txBody>
                    <a:bodyPr wrap="square" anchor="ctr"/>
                    <a:lstStyle/>
                    <a:p>
                      <a:pPr algn="ctr">
                        <a:defRPr sz="1100" b="1">
                          <a:solidFill>
                            <a:srgbClr val="006FC0"/>
                          </a:solidFill>
                          <a:latin typeface="Arial"/>
                        </a:defRPr>
                      </a:pPr>
                      <a:r>
                        <a:t>O(V + E) linear time</a:t>
                      </a:r>
                    </a:p>
                  </a:txBody>
                  <a:tcPr>
                    <a:solidFill>
                      <a:srgbClr val="FFFFFF"/>
                    </a:solidFill>
                  </a:tcPr>
                </a:tc>
              </a:tr>
              <a:tr h="407323">
                <a:tc>
                  <a:txBody>
                    <a:bodyPr wrap="square" anchor="ctr"/>
                    <a:lstStyle/>
                    <a:p>
                      <a:pPr algn="l">
                        <a:defRPr sz="1100" b="1">
                          <a:solidFill>
                            <a:srgbClr val="1F487C"/>
                          </a:solidFill>
                          <a:latin typeface="Arial"/>
                        </a:defRPr>
                      </a:pPr>
                      <a:r>
                        <a:t>Minimum Effort Learning Path</a:t>
                      </a:r>
                    </a:p>
                  </a:txBody>
                  <a:tcPr>
                    <a:solidFill>
                      <a:srgbClr val="F1F5FA"/>
                    </a:solidFill>
                  </a:tcPr>
                </a:tc>
                <a:tc>
                  <a:txBody>
                    <a:bodyPr wrap="square" anchor="ctr"/>
                    <a:lstStyle/>
                    <a:p>
                      <a:pPr algn="l">
                        <a:defRPr sz="1100">
                          <a:solidFill>
                            <a:srgbClr val="1A1A1A"/>
                          </a:solidFill>
                          <a:latin typeface="Arial"/>
                        </a:defRPr>
                      </a:pPr>
                      <a:r>
                        <a:t>Dijkstra's Algorithm (Min-Heap Priority Queue)</a:t>
                      </a:r>
                    </a:p>
                  </a:txBody>
                  <a:tcPr>
                    <a:solidFill>
                      <a:srgbClr val="F1F5FA"/>
                    </a:solidFill>
                  </a:tcPr>
                </a:tc>
                <a:tc>
                  <a:txBody>
                    <a:bodyPr wrap="square" anchor="ctr"/>
                    <a:lstStyle/>
                    <a:p>
                      <a:pPr algn="ctr">
                        <a:defRPr sz="1100" b="1">
                          <a:solidFill>
                            <a:srgbClr val="006FC0"/>
                          </a:solidFill>
                          <a:latin typeface="Arial"/>
                        </a:defRPr>
                      </a:pPr>
                      <a:r>
                        <a:t>O((V + E) log V)</a:t>
                      </a:r>
                    </a:p>
                  </a:txBody>
                  <a:tcPr>
                    <a:solidFill>
                      <a:srgbClr val="F1F5FA"/>
                    </a:solidFill>
                  </a:tcPr>
                </a:tc>
              </a:tr>
              <a:tr h="407323">
                <a:tc>
                  <a:txBody>
                    <a:bodyPr wrap="square" anchor="ctr"/>
                    <a:lstStyle/>
                    <a:p>
                      <a:pPr algn="l">
                        <a:defRPr sz="1100" b="1">
                          <a:solidFill>
                            <a:srgbClr val="1F487C"/>
                          </a:solidFill>
                          <a:latin typeface="Arial"/>
                        </a:defRPr>
                      </a:pPr>
                      <a:r>
                        <a:t>Unweighted Milestone Traversal</a:t>
                      </a:r>
                    </a:p>
                  </a:txBody>
                  <a:tcPr>
                    <a:solidFill>
                      <a:srgbClr val="FFFFFF"/>
                    </a:solidFill>
                  </a:tcPr>
                </a:tc>
                <a:tc>
                  <a:txBody>
                    <a:bodyPr wrap="square" anchor="ctr"/>
                    <a:lstStyle/>
                    <a:p>
                      <a:pPr algn="l">
                        <a:defRPr sz="1100">
                          <a:solidFill>
                            <a:srgbClr val="1A1A1A"/>
                          </a:solidFill>
                          <a:latin typeface="Arial"/>
                        </a:defRPr>
                      </a:pPr>
                      <a:r>
                        <a:t>Breadth-First Search (Queue-based BFS)</a:t>
                      </a:r>
                    </a:p>
                  </a:txBody>
                  <a:tcPr>
                    <a:solidFill>
                      <a:srgbClr val="FFFFFF"/>
                    </a:solidFill>
                  </a:tcPr>
                </a:tc>
                <a:tc>
                  <a:txBody>
                    <a:bodyPr wrap="square" anchor="ctr"/>
                    <a:lstStyle/>
                    <a:p>
                      <a:pPr algn="ctr">
                        <a:defRPr sz="1100" b="1">
                          <a:solidFill>
                            <a:srgbClr val="006FC0"/>
                          </a:solidFill>
                          <a:latin typeface="Arial"/>
                        </a:defRPr>
                      </a:pPr>
                      <a:r>
                        <a:t>O(V + E) level-order</a:t>
                      </a:r>
                    </a:p>
                  </a:txBody>
                  <a:tcPr>
                    <a:solidFill>
                      <a:srgbClr val="FFFFFF"/>
                    </a:solidFill>
                  </a:tcPr>
                </a:tc>
              </a:tr>
              <a:tr h="407323">
                <a:tc>
                  <a:txBody>
                    <a:bodyPr wrap="square" anchor="ctr"/>
                    <a:lstStyle/>
                    <a:p>
                      <a:pPr algn="l">
                        <a:defRPr sz="1100" b="1">
                          <a:solidFill>
                            <a:srgbClr val="1F487C"/>
                          </a:solidFill>
                          <a:latin typeface="Arial"/>
                        </a:defRPr>
                      </a:pPr>
                      <a:r>
                        <a:t>Skill Autocomplete &amp; Search</a:t>
                      </a:r>
                    </a:p>
                  </a:txBody>
                  <a:tcPr>
                    <a:solidFill>
                      <a:srgbClr val="F1F5FA"/>
                    </a:solidFill>
                  </a:tcPr>
                </a:tc>
                <a:tc>
                  <a:txBody>
                    <a:bodyPr wrap="square" anchor="ctr"/>
                    <a:lstStyle/>
                    <a:p>
                      <a:pPr algn="l">
                        <a:defRPr sz="1100">
                          <a:solidFill>
                            <a:srgbClr val="1A1A1A"/>
                          </a:solidFill>
                          <a:latin typeface="Arial"/>
                        </a:defRPr>
                      </a:pPr>
                      <a:r>
                        <a:t>Trie Data Structure (Multi-Way Prefix Tree)</a:t>
                      </a:r>
                    </a:p>
                  </a:txBody>
                  <a:tcPr>
                    <a:solidFill>
                      <a:srgbClr val="F1F5FA"/>
                    </a:solidFill>
                  </a:tcPr>
                </a:tc>
                <a:tc>
                  <a:txBody>
                    <a:bodyPr wrap="square" anchor="ctr"/>
                    <a:lstStyle/>
                    <a:p>
                      <a:pPr algn="ctr">
                        <a:defRPr sz="1100" b="1">
                          <a:solidFill>
                            <a:srgbClr val="006FC0"/>
                          </a:solidFill>
                          <a:latin typeface="Arial"/>
                        </a:defRPr>
                      </a:pPr>
                      <a:r>
                        <a:t>O(L) string length</a:t>
                      </a:r>
                    </a:p>
                  </a:txBody>
                  <a:tcPr>
                    <a:solidFill>
                      <a:srgbClr val="F1F5FA"/>
                    </a:solidFill>
                  </a:tcPr>
                </a:tc>
              </a:tr>
              <a:tr h="407323">
                <a:tc>
                  <a:txBody>
                    <a:bodyPr wrap="square" anchor="ctr"/>
                    <a:lstStyle/>
                    <a:p>
                      <a:pPr algn="l">
                        <a:defRPr sz="1100" b="1">
                          <a:solidFill>
                            <a:srgbClr val="1F487C"/>
                          </a:solidFill>
                          <a:latin typeface="Arial"/>
                        </a:defRPr>
                      </a:pPr>
                      <a:r>
                        <a:t>Skill Deficit Prioritization</a:t>
                      </a:r>
                    </a:p>
                  </a:txBody>
                  <a:tcPr>
                    <a:solidFill>
                      <a:srgbClr val="FFFFFF"/>
                    </a:solidFill>
                  </a:tcPr>
                </a:tc>
                <a:tc>
                  <a:txBody>
                    <a:bodyPr wrap="square" anchor="ctr"/>
                    <a:lstStyle/>
                    <a:p>
                      <a:pPr algn="l">
                        <a:defRPr sz="1100">
                          <a:solidFill>
                            <a:srgbClr val="1A1A1A"/>
                          </a:solidFill>
                          <a:latin typeface="Arial"/>
                        </a:defRPr>
                      </a:pPr>
                      <a:r>
                        <a:t>Max-Priority Queue (Binary Max-Heap)</a:t>
                      </a:r>
                    </a:p>
                  </a:txBody>
                  <a:tcPr>
                    <a:solidFill>
                      <a:srgbClr val="FFFFFF"/>
                    </a:solidFill>
                  </a:tcPr>
                </a:tc>
                <a:tc>
                  <a:txBody>
                    <a:bodyPr wrap="square" anchor="ctr"/>
                    <a:lstStyle/>
                    <a:p>
                      <a:pPr algn="ctr">
                        <a:defRPr sz="1100" b="1">
                          <a:solidFill>
                            <a:srgbClr val="006FC0"/>
                          </a:solidFill>
                          <a:latin typeface="Arial"/>
                        </a:defRPr>
                      </a:pPr>
                      <a:r>
                        <a:t>O(log K) push / pop</a:t>
                      </a:r>
                    </a:p>
                  </a:txBody>
                  <a:tcPr>
                    <a:solidFill>
                      <a:srgbClr val="FFFFFF"/>
                    </a:solidFill>
                  </a:tcPr>
                </a:tc>
              </a:tr>
              <a:tr h="407323">
                <a:tc>
                  <a:txBody>
                    <a:bodyPr wrap="square" anchor="ctr"/>
                    <a:lstStyle/>
                    <a:p>
                      <a:pPr algn="l">
                        <a:defRPr sz="1100" b="1">
                          <a:solidFill>
                            <a:srgbClr val="1F487C"/>
                          </a:solidFill>
                          <a:latin typeface="Arial"/>
                        </a:defRPr>
                      </a:pPr>
                      <a:r>
                        <a:t>Career Choice Evaluation</a:t>
                      </a:r>
                    </a:p>
                  </a:txBody>
                  <a:tcPr>
                    <a:solidFill>
                      <a:srgbClr val="F1F5FA"/>
                    </a:solidFill>
                  </a:tcPr>
                </a:tc>
                <a:tc>
                  <a:txBody>
                    <a:bodyPr wrap="square" anchor="ctr"/>
                    <a:lstStyle/>
                    <a:p>
                      <a:pPr algn="l">
                        <a:defRPr sz="1100">
                          <a:solidFill>
                            <a:srgbClr val="1A1A1A"/>
                          </a:solidFill>
                          <a:latin typeface="Arial"/>
                        </a:defRPr>
                      </a:pPr>
                      <a:r>
                        <a:t>Decision Tree Classification</a:t>
                      </a:r>
                    </a:p>
                  </a:txBody>
                  <a:tcPr>
                    <a:solidFill>
                      <a:srgbClr val="F1F5FA"/>
                    </a:solidFill>
                  </a:tcPr>
                </a:tc>
                <a:tc>
                  <a:txBody>
                    <a:bodyPr wrap="square" anchor="ctr"/>
                    <a:lstStyle/>
                    <a:p>
                      <a:pPr algn="ctr">
                        <a:defRPr sz="1100" b="1">
                          <a:solidFill>
                            <a:srgbClr val="006FC0"/>
                          </a:solidFill>
                          <a:latin typeface="Arial"/>
                        </a:defRPr>
                      </a:pPr>
                      <a:r>
                        <a:t>O(Depth) traversal</a:t>
                      </a:r>
                    </a:p>
                  </a:txBody>
                  <a:tcPr>
                    <a:solidFill>
                      <a:srgbClr val="F1F5FA"/>
                    </a:solidFill>
                  </a:tcPr>
                </a:tc>
              </a:tr>
              <a:tr h="407323">
                <a:tc>
                  <a:txBody>
                    <a:bodyPr wrap="square" anchor="ctr"/>
                    <a:lstStyle/>
                    <a:p>
                      <a:pPr algn="l">
                        <a:defRPr sz="1100" b="1">
                          <a:solidFill>
                            <a:srgbClr val="1F487C"/>
                          </a:solidFill>
                          <a:latin typeface="Arial"/>
                        </a:defRPr>
                      </a:pPr>
                      <a:r>
                        <a:t>Overlapping Course Syllabi</a:t>
                      </a:r>
                    </a:p>
                  </a:txBody>
                  <a:tcPr>
                    <a:solidFill>
                      <a:srgbClr val="FFFFFF"/>
                    </a:solidFill>
                  </a:tcPr>
                </a:tc>
                <a:tc>
                  <a:txBody>
                    <a:bodyPr wrap="square" anchor="ctr"/>
                    <a:lstStyle/>
                    <a:p>
                      <a:pPr algn="l">
                        <a:defRPr sz="1100">
                          <a:solidFill>
                            <a:srgbClr val="1A1A1A"/>
                          </a:solidFill>
                          <a:latin typeface="Arial"/>
                        </a:defRPr>
                      </a:pPr>
                      <a:r>
                        <a:t>Dynamic Programming (Memoization Table)</a:t>
                      </a:r>
                    </a:p>
                  </a:txBody>
                  <a:tcPr>
                    <a:solidFill>
                      <a:srgbClr val="FFFFFF"/>
                    </a:solidFill>
                  </a:tcPr>
                </a:tc>
                <a:tc>
                  <a:txBody>
                    <a:bodyPr wrap="square" anchor="ctr"/>
                    <a:lstStyle/>
                    <a:p>
                      <a:pPr algn="ctr">
                        <a:defRPr sz="1100" b="1">
                          <a:solidFill>
                            <a:srgbClr val="006FC0"/>
                          </a:solidFill>
                          <a:latin typeface="Arial"/>
                        </a:defRPr>
                      </a:pPr>
                      <a:r>
                        <a:t>O(Subproblems) state</a:t>
                      </a:r>
                    </a:p>
                  </a:txBody>
                  <a:tcPr>
                    <a:solidFill>
                      <a:srgbClr val="FFFFFF"/>
                    </a:solidFill>
                  </a:tcPr>
                </a:tc>
              </a:tr>
              <a:tr h="407330">
                <a:tc>
                  <a:txBody>
                    <a:bodyPr wrap="square" anchor="ctr"/>
                    <a:lstStyle/>
                    <a:p>
                      <a:pPr algn="l">
                        <a:defRPr sz="1100" b="1">
                          <a:solidFill>
                            <a:srgbClr val="1F487C"/>
                          </a:solidFill>
                          <a:latin typeface="Arial"/>
                        </a:defRPr>
                      </a:pPr>
                      <a:r>
                        <a:t>Competency Match Scoring</a:t>
                      </a:r>
                    </a:p>
                  </a:txBody>
                  <a:tcPr>
                    <a:solidFill>
                      <a:srgbClr val="F1F5FA"/>
                    </a:solidFill>
                  </a:tcPr>
                </a:tc>
                <a:tc>
                  <a:txBody>
                    <a:bodyPr wrap="square" anchor="ctr"/>
                    <a:lstStyle/>
                    <a:p>
                      <a:pPr algn="l">
                        <a:defRPr sz="1100">
                          <a:solidFill>
                            <a:srgbClr val="1A1A1A"/>
                          </a:solidFill>
                          <a:latin typeface="Arial"/>
                        </a:defRPr>
                      </a:pPr>
                      <a:r>
                        <a:t>Vector Space Modeling &amp; Cosine Similarity</a:t>
                      </a:r>
                    </a:p>
                  </a:txBody>
                  <a:tcPr>
                    <a:solidFill>
                      <a:srgbClr val="F1F5FA"/>
                    </a:solidFill>
                  </a:tcPr>
                </a:tc>
                <a:tc>
                  <a:txBody>
                    <a:bodyPr wrap="square" anchor="ctr"/>
                    <a:lstStyle/>
                    <a:p>
                      <a:pPr algn="ctr">
                        <a:defRPr sz="1100" b="1">
                          <a:solidFill>
                            <a:srgbClr val="006FC0"/>
                          </a:solidFill>
                          <a:latin typeface="Arial"/>
                        </a:defRPr>
                      </a:pPr>
                      <a:r>
                        <a:t>O(D) feature dimension</a:t>
                      </a:r>
                    </a:p>
                  </a:txBody>
                  <a:tcPr>
                    <a:solidFill>
                      <a:srgbClr val="F1F5FA"/>
                    </a:solidFill>
                  </a:tcPr>
                </a:tc>
              </a:tr>
            </a:tbl>
          </a:graphicData>
        </a:graphic>
      </p:graphicFrame>
      <p:sp>
        <p:nvSpPr>
          <p:cNvPr id="8" name="TextBox 7"/>
          <p:cNvSpPr txBox="1"/>
          <p:nvPr/>
        </p:nvSpPr>
        <p:spPr>
          <a:xfrm>
            <a:off x="777240" y="5897880"/>
            <a:ext cx="10607040" cy="365760"/>
          </a:xfrm>
          <a:prstGeom prst="rect">
            <a:avLst/>
          </a:prstGeom>
          <a:noFill/>
        </p:spPr>
        <p:txBody>
          <a:bodyPr wrap="none">
            <a:spAutoFit/>
          </a:bodyPr>
          <a:lstStyle/>
          <a:p>
            <a:pPr algn="ctr">
              <a:defRPr sz="1100" i="1">
                <a:solidFill>
                  <a:srgbClr val="64748B"/>
                </a:solidFill>
                <a:latin typeface="Arial"/>
              </a:defRPr>
            </a:pPr>
            <a:r>
              <a:t>The mapping rigorously formalizes career mentoring using fundamental computer science data structures and complexity 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PROBLEM STATEMENT</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4</a:t>
            </a:r>
          </a:p>
        </p:txBody>
      </p:sp>
      <p:sp>
        <p:nvSpPr>
          <p:cNvPr id="7" name="Rounded Rectangle 6"/>
          <p:cNvSpPr/>
          <p:nvPr/>
        </p:nvSpPr>
        <p:spPr>
          <a:xfrm>
            <a:off x="548640" y="1371600"/>
            <a:ext cx="5212080" cy="47091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5212080"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The Challenge</a:t>
            </a:r>
          </a:p>
        </p:txBody>
      </p:sp>
      <p:sp>
        <p:nvSpPr>
          <p:cNvPr id="9" name="TextBox 8"/>
          <p:cNvSpPr txBox="1"/>
          <p:nvPr/>
        </p:nvSpPr>
        <p:spPr>
          <a:xfrm>
            <a:off x="685800" y="1920240"/>
            <a:ext cx="4937760" cy="4069080"/>
          </a:xfrm>
          <a:prstGeom prst="rect">
            <a:avLst/>
          </a:prstGeom>
          <a:noFill/>
        </p:spPr>
        <p:txBody>
          <a:bodyPr wrap="square" lIns="45720">
            <a:spAutoFit/>
          </a:bodyPr>
          <a:lstStyle/>
          <a:p>
            <a:pPr>
              <a:spcAft>
                <a:spcPts val="1000"/>
              </a:spcAft>
            </a:pPr>
            <a:r>
              <a:rPr sz="1350" b="1">
                <a:solidFill>
                  <a:srgbClr val="1F487C"/>
                </a:solidFill>
                <a:latin typeface="Arial"/>
              </a:rPr>
              <a:t>•  Information Overload: </a:t>
            </a:r>
            <a:r>
              <a:rPr sz="1300" b="0">
                <a:solidFill>
                  <a:srgbClr val="1A1A1A"/>
                </a:solidFill>
                <a:latin typeface="Arial"/>
              </a:rPr>
              <a:t>Students navigate thousands of overlapping online courses, credentials, and job descriptions without clear prerequisite sequences.</a:t>
            </a:r>
          </a:p>
          <a:p>
            <a:pPr>
              <a:spcAft>
                <a:spcPts val="1000"/>
              </a:spcAft>
            </a:pPr>
            <a:r>
              <a:rPr sz="1350" b="1">
                <a:solidFill>
                  <a:srgbClr val="1F487C"/>
                </a:solidFill>
                <a:latin typeface="Arial"/>
              </a:rPr>
              <a:t>•  Static Non-Personalized Advice: </a:t>
            </a:r>
            <a:r>
              <a:rPr sz="1300" b="0">
                <a:solidFill>
                  <a:srgbClr val="1A1A1A"/>
                </a:solidFill>
                <a:latin typeface="Arial"/>
              </a:rPr>
              <a:t>Traditional academic counseling relies on generic, rigid curricula that ignore individual student backgrounds, pacing, and existing competencies.</a:t>
            </a:r>
          </a:p>
          <a:p>
            <a:pPr>
              <a:spcAft>
                <a:spcPts val="1000"/>
              </a:spcAft>
            </a:pPr>
            <a:r>
              <a:rPr sz="1350" b="1">
                <a:solidFill>
                  <a:srgbClr val="1F487C"/>
                </a:solidFill>
                <a:latin typeface="Arial"/>
              </a:rPr>
              <a:t>•  Complex Prerequisite Dependencies: </a:t>
            </a:r>
            <a:r>
              <a:rPr sz="1300" b="0">
                <a:solidFill>
                  <a:srgbClr val="1A1A1A"/>
                </a:solidFill>
                <a:latin typeface="Arial"/>
              </a:rPr>
              <a:t>Advanced specializations (e.g., MLOps, Cloud Security) require deep, multi-stage prerequisite trees that students often missequence.</a:t>
            </a:r>
          </a:p>
          <a:p>
            <a:pPr>
              <a:spcAft>
                <a:spcPts val="1000"/>
              </a:spcAft>
            </a:pPr>
            <a:r>
              <a:rPr sz="1350" b="1">
                <a:solidFill>
                  <a:srgbClr val="1F487C"/>
                </a:solidFill>
                <a:latin typeface="Arial"/>
              </a:rPr>
              <a:t>•  Combinatorial Path Explosion: </a:t>
            </a:r>
            <a:r>
              <a:rPr sz="1300" b="0">
                <a:solidFill>
                  <a:srgbClr val="1A1A1A"/>
                </a:solidFill>
                <a:latin typeface="Arial"/>
              </a:rPr>
              <a:t>Manual path planning cannot scale across hundreds of elective modules and industry roles without mathematical optimization.</a:t>
            </a:r>
          </a:p>
          <a:p>
            <a:pPr>
              <a:spcAft>
                <a:spcPts val="1000"/>
              </a:spcAft>
            </a:pPr>
            <a:r>
              <a:rPr sz="1350" b="1">
                <a:solidFill>
                  <a:srgbClr val="1F487C"/>
                </a:solidFill>
                <a:latin typeface="Arial"/>
              </a:rPr>
              <a:t>•  Silent Prerequisite Deadlocks: </a:t>
            </a:r>
            <a:r>
              <a:rPr sz="1300" b="0">
                <a:solidFill>
                  <a:srgbClr val="1A1A1A"/>
                </a:solidFill>
                <a:latin typeface="Arial"/>
              </a:rPr>
              <a:t>Circular learning loops and missing foundational competencies cause high student frustration and dropped learning trajectories.</a:t>
            </a:r>
          </a:p>
        </p:txBody>
      </p:sp>
      <p:sp>
        <p:nvSpPr>
          <p:cNvPr id="10" name="Right Arrow 9"/>
          <p:cNvSpPr/>
          <p:nvPr/>
        </p:nvSpPr>
        <p:spPr>
          <a:xfrm>
            <a:off x="5833872" y="3520440"/>
            <a:ext cx="530352" cy="411480"/>
          </a:xfrm>
          <a:prstGeom prst="rightArrow">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46520" y="1371600"/>
            <a:ext cx="5212080" cy="47091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1371600"/>
            <a:ext cx="521208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Our Approach</a:t>
            </a:r>
          </a:p>
        </p:txBody>
      </p:sp>
      <p:sp>
        <p:nvSpPr>
          <p:cNvPr id="13" name="TextBox 12"/>
          <p:cNvSpPr txBox="1"/>
          <p:nvPr/>
        </p:nvSpPr>
        <p:spPr>
          <a:xfrm>
            <a:off x="6583680" y="1920240"/>
            <a:ext cx="4937760" cy="4069080"/>
          </a:xfrm>
          <a:prstGeom prst="rect">
            <a:avLst/>
          </a:prstGeom>
          <a:noFill/>
        </p:spPr>
        <p:txBody>
          <a:bodyPr wrap="square" lIns="45720">
            <a:spAutoFit/>
          </a:bodyPr>
          <a:lstStyle/>
          <a:p>
            <a:pPr>
              <a:spcAft>
                <a:spcPts val="1000"/>
              </a:spcAft>
            </a:pPr>
            <a:r>
              <a:rPr sz="1350" b="1">
                <a:solidFill>
                  <a:srgbClr val="1F487C"/>
                </a:solidFill>
                <a:latin typeface="Arial"/>
              </a:rPr>
              <a:t>•  Graph-Based Prerequisite Trees: </a:t>
            </a:r>
            <a:r>
              <a:rPr sz="1300" b="0">
                <a:solidFill>
                  <a:srgbClr val="1A1A1A"/>
                </a:solidFill>
                <a:latin typeface="Arial"/>
              </a:rPr>
              <a:t>Formalize industry competencies and academic subjects as a mathematically verified Directed Acyclic Graph (DAG).</a:t>
            </a:r>
          </a:p>
          <a:p>
            <a:pPr>
              <a:spcAft>
                <a:spcPts val="1000"/>
              </a:spcAft>
            </a:pPr>
            <a:r>
              <a:rPr sz="1350" b="1">
                <a:solidFill>
                  <a:srgbClr val="1F487C"/>
                </a:solidFill>
                <a:latin typeface="Arial"/>
              </a:rPr>
              <a:t>•  Dijkstra Learning Optimizer: </a:t>
            </a:r>
            <a:r>
              <a:rPr sz="1300" b="0">
                <a:solidFill>
                  <a:srgbClr val="1A1A1A"/>
                </a:solidFill>
                <a:latin typeface="Arial"/>
              </a:rPr>
              <a:t>Compute the true shortest learning trajectory that minimizes overall study weeks, credit costs, and prerequisite friction.</a:t>
            </a:r>
          </a:p>
          <a:p>
            <a:pPr>
              <a:spcAft>
                <a:spcPts val="1000"/>
              </a:spcAft>
            </a:pPr>
            <a:r>
              <a:rPr sz="1350" b="1">
                <a:solidFill>
                  <a:srgbClr val="1F487C"/>
                </a:solidFill>
                <a:latin typeface="Arial"/>
              </a:rPr>
              <a:t>•  Sub-Millisecond Trie Retrieval: </a:t>
            </a:r>
            <a:r>
              <a:rPr sz="1300" b="0">
                <a:solidFill>
                  <a:srgbClr val="1A1A1A"/>
                </a:solidFill>
                <a:latin typeface="Arial"/>
              </a:rPr>
              <a:t>Structure comprehensive technical skill taxonomies in an in-memory Trie for instantaneous, typo-tolerant prefix search.</a:t>
            </a:r>
          </a:p>
          <a:p>
            <a:pPr>
              <a:spcAft>
                <a:spcPts val="1000"/>
              </a:spcAft>
            </a:pPr>
            <a:r>
              <a:rPr sz="1350" b="1">
                <a:solidFill>
                  <a:srgbClr val="1F487C"/>
                </a:solidFill>
                <a:latin typeface="Arial"/>
              </a:rPr>
              <a:t>•  Dynamic Heap Prioritization: </a:t>
            </a:r>
            <a:r>
              <a:rPr sz="1300" b="0">
                <a:solidFill>
                  <a:srgbClr val="1A1A1A"/>
                </a:solidFill>
                <a:latin typeface="Arial"/>
              </a:rPr>
              <a:t>Sort and highlight urgent competency deficits using Max-Heaps weighted by real-time industry demand metrics.</a:t>
            </a:r>
          </a:p>
          <a:p>
            <a:pPr>
              <a:spcAft>
                <a:spcPts val="1000"/>
              </a:spcAft>
            </a:pPr>
            <a:r>
              <a:rPr sz="1350" b="1">
                <a:solidFill>
                  <a:srgbClr val="1F487C"/>
                </a:solidFill>
                <a:latin typeface="Arial"/>
              </a:rPr>
              <a:t>•  Cycle-Free Curriculum Guarantee: </a:t>
            </a:r>
            <a:r>
              <a:rPr sz="1300" b="0">
                <a:solidFill>
                  <a:srgbClr val="1A1A1A"/>
                </a:solidFill>
                <a:latin typeface="Arial"/>
              </a:rPr>
              <a:t>Deploy Kahn's topological sort to mathematically guarantee valid, linear milestone progression with zero circular dependencies.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OBJECTIVES</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5</a:t>
            </a:r>
          </a:p>
        </p:txBody>
      </p:sp>
      <p:sp>
        <p:nvSpPr>
          <p:cNvPr id="7" name="Rounded Rectangle 6"/>
          <p:cNvSpPr/>
          <p:nvPr/>
        </p:nvSpPr>
        <p:spPr>
          <a:xfrm>
            <a:off x="548640" y="1417320"/>
            <a:ext cx="2560320" cy="20574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58191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1</a:t>
            </a:r>
          </a:p>
        </p:txBody>
      </p:sp>
      <p:sp>
        <p:nvSpPr>
          <p:cNvPr id="9" name="TextBox 8"/>
          <p:cNvSpPr txBox="1"/>
          <p:nvPr/>
        </p:nvSpPr>
        <p:spPr>
          <a:xfrm>
            <a:off x="685800" y="2075688"/>
            <a:ext cx="2286000" cy="1325880"/>
          </a:xfrm>
          <a:prstGeom prst="rect">
            <a:avLst/>
          </a:prstGeom>
          <a:noFill/>
        </p:spPr>
        <p:txBody>
          <a:bodyPr wrap="square">
            <a:spAutoFit/>
          </a:bodyPr>
          <a:lstStyle/>
          <a:p>
            <a:pPr>
              <a:spcAft>
                <a:spcPts val="400"/>
              </a:spcAft>
              <a:defRPr sz="1300" b="1">
                <a:solidFill>
                  <a:srgbClr val="1F487C"/>
                </a:solidFill>
                <a:latin typeface="Arial"/>
              </a:defRPr>
            </a:pPr>
            <a:r>
              <a:t>Skill Profile Ingestion</a:t>
            </a:r>
          </a:p>
          <a:p>
            <a:pPr>
              <a:defRPr sz="1100">
                <a:solidFill>
                  <a:srgbClr val="1A1A1A"/>
                </a:solidFill>
                <a:latin typeface="Arial"/>
              </a:defRPr>
            </a:pPr>
            <a:r>
              <a:t>Model multi-domain student skills, grades, and interests into high-performance Hash Maps.</a:t>
            </a:r>
          </a:p>
        </p:txBody>
      </p:sp>
      <p:sp>
        <p:nvSpPr>
          <p:cNvPr id="10" name="Rounded Rectangle 9"/>
          <p:cNvSpPr/>
          <p:nvPr/>
        </p:nvSpPr>
        <p:spPr>
          <a:xfrm>
            <a:off x="3364992" y="1417320"/>
            <a:ext cx="2560320" cy="20574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47872" y="158191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2</a:t>
            </a:r>
          </a:p>
        </p:txBody>
      </p:sp>
      <p:sp>
        <p:nvSpPr>
          <p:cNvPr id="12" name="TextBox 11"/>
          <p:cNvSpPr txBox="1"/>
          <p:nvPr/>
        </p:nvSpPr>
        <p:spPr>
          <a:xfrm>
            <a:off x="3502152" y="2075688"/>
            <a:ext cx="2286000" cy="1325880"/>
          </a:xfrm>
          <a:prstGeom prst="rect">
            <a:avLst/>
          </a:prstGeom>
          <a:noFill/>
        </p:spPr>
        <p:txBody>
          <a:bodyPr wrap="square">
            <a:spAutoFit/>
          </a:bodyPr>
          <a:lstStyle/>
          <a:p>
            <a:pPr>
              <a:spcAft>
                <a:spcPts val="400"/>
              </a:spcAft>
              <a:defRPr sz="1300" b="1">
                <a:solidFill>
                  <a:srgbClr val="1F487C"/>
                </a:solidFill>
                <a:latin typeface="Arial"/>
              </a:defRPr>
            </a:pPr>
            <a:r>
              <a:t>Career Knowledge Graph</a:t>
            </a:r>
          </a:p>
          <a:p>
            <a:pPr>
              <a:defRPr sz="1100">
                <a:solidFill>
                  <a:srgbClr val="1A1A1A"/>
                </a:solidFill>
                <a:latin typeface="Arial"/>
              </a:defRPr>
            </a:pPr>
            <a:r>
              <a:t>Construct and validate weighted DAGs representing complex prerequisite structures across tech domains.</a:t>
            </a:r>
          </a:p>
        </p:txBody>
      </p:sp>
      <p:sp>
        <p:nvSpPr>
          <p:cNvPr id="13" name="Rounded Rectangle 12"/>
          <p:cNvSpPr/>
          <p:nvPr/>
        </p:nvSpPr>
        <p:spPr>
          <a:xfrm>
            <a:off x="6181344" y="1417320"/>
            <a:ext cx="2560320" cy="20574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64224" y="158191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3</a:t>
            </a:r>
          </a:p>
        </p:txBody>
      </p:sp>
      <p:sp>
        <p:nvSpPr>
          <p:cNvPr id="15" name="TextBox 14"/>
          <p:cNvSpPr txBox="1"/>
          <p:nvPr/>
        </p:nvSpPr>
        <p:spPr>
          <a:xfrm>
            <a:off x="6318504" y="2075688"/>
            <a:ext cx="2286000" cy="1325880"/>
          </a:xfrm>
          <a:prstGeom prst="rect">
            <a:avLst/>
          </a:prstGeom>
          <a:noFill/>
        </p:spPr>
        <p:txBody>
          <a:bodyPr wrap="square">
            <a:spAutoFit/>
          </a:bodyPr>
          <a:lstStyle/>
          <a:p>
            <a:pPr>
              <a:spcAft>
                <a:spcPts val="400"/>
              </a:spcAft>
              <a:defRPr sz="1300" b="1">
                <a:solidFill>
                  <a:srgbClr val="1F487C"/>
                </a:solidFill>
                <a:latin typeface="Arial"/>
              </a:defRPr>
            </a:pPr>
            <a:r>
              <a:t>Shortest Pathway Traversal</a:t>
            </a:r>
          </a:p>
          <a:p>
            <a:pPr>
              <a:defRPr sz="1100">
                <a:solidFill>
                  <a:srgbClr val="1A1A1A"/>
                </a:solidFill>
                <a:latin typeface="Arial"/>
              </a:defRPr>
            </a:pPr>
            <a:r>
              <a:t>Implement Dijkstra's and BFS algorithms to compute minimum-effort learning trajectories.</a:t>
            </a:r>
          </a:p>
        </p:txBody>
      </p:sp>
      <p:sp>
        <p:nvSpPr>
          <p:cNvPr id="16" name="Rounded Rectangle 15"/>
          <p:cNvSpPr/>
          <p:nvPr/>
        </p:nvSpPr>
        <p:spPr>
          <a:xfrm>
            <a:off x="8997696" y="1417320"/>
            <a:ext cx="2560320" cy="20574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80576" y="158191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4</a:t>
            </a:r>
          </a:p>
        </p:txBody>
      </p:sp>
      <p:sp>
        <p:nvSpPr>
          <p:cNvPr id="18" name="TextBox 17"/>
          <p:cNvSpPr txBox="1"/>
          <p:nvPr/>
        </p:nvSpPr>
        <p:spPr>
          <a:xfrm>
            <a:off x="9134856" y="2075688"/>
            <a:ext cx="2286000" cy="1325880"/>
          </a:xfrm>
          <a:prstGeom prst="rect">
            <a:avLst/>
          </a:prstGeom>
          <a:noFill/>
        </p:spPr>
        <p:txBody>
          <a:bodyPr wrap="square">
            <a:spAutoFit/>
          </a:bodyPr>
          <a:lstStyle/>
          <a:p>
            <a:pPr>
              <a:spcAft>
                <a:spcPts val="400"/>
              </a:spcAft>
              <a:defRPr sz="1300" b="1">
                <a:solidFill>
                  <a:srgbClr val="1F487C"/>
                </a:solidFill>
                <a:latin typeface="Arial"/>
              </a:defRPr>
            </a:pPr>
            <a:r>
              <a:t>Sub-Millisecond Trie Search</a:t>
            </a:r>
          </a:p>
          <a:p>
            <a:pPr>
              <a:defRPr sz="1100">
                <a:solidFill>
                  <a:srgbClr val="1A1A1A"/>
                </a:solidFill>
                <a:latin typeface="Arial"/>
              </a:defRPr>
            </a:pPr>
            <a:r>
              <a:t>Build a memory-efficient Trie data structure for fast prefix skill lookup and autocomplete.</a:t>
            </a:r>
          </a:p>
        </p:txBody>
      </p:sp>
      <p:sp>
        <p:nvSpPr>
          <p:cNvPr id="19" name="Rounded Rectangle 18"/>
          <p:cNvSpPr/>
          <p:nvPr/>
        </p:nvSpPr>
        <p:spPr>
          <a:xfrm>
            <a:off x="1965960" y="3794760"/>
            <a:ext cx="2560320" cy="20574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148840" y="395935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5</a:t>
            </a:r>
          </a:p>
        </p:txBody>
      </p:sp>
      <p:sp>
        <p:nvSpPr>
          <p:cNvPr id="21" name="TextBox 20"/>
          <p:cNvSpPr txBox="1"/>
          <p:nvPr/>
        </p:nvSpPr>
        <p:spPr>
          <a:xfrm>
            <a:off x="2103120" y="4453128"/>
            <a:ext cx="2286000" cy="1325880"/>
          </a:xfrm>
          <a:prstGeom prst="rect">
            <a:avLst/>
          </a:prstGeom>
          <a:noFill/>
        </p:spPr>
        <p:txBody>
          <a:bodyPr wrap="square">
            <a:spAutoFit/>
          </a:bodyPr>
          <a:lstStyle/>
          <a:p>
            <a:pPr>
              <a:spcAft>
                <a:spcPts val="400"/>
              </a:spcAft>
              <a:defRPr sz="1300" b="1">
                <a:solidFill>
                  <a:srgbClr val="1F487C"/>
                </a:solidFill>
                <a:latin typeface="Arial"/>
              </a:defRPr>
            </a:pPr>
            <a:r>
              <a:t>Priority Queue Gap Analysis</a:t>
            </a:r>
          </a:p>
          <a:p>
            <a:pPr>
              <a:defRPr sz="1100">
                <a:solidFill>
                  <a:srgbClr val="1A1A1A"/>
                </a:solidFill>
                <a:latin typeface="Arial"/>
              </a:defRPr>
            </a:pPr>
            <a:r>
              <a:t>Deploy Max-Binary Heaps to dynamically rank missing competencies by industry urgency.</a:t>
            </a:r>
          </a:p>
        </p:txBody>
      </p:sp>
      <p:sp>
        <p:nvSpPr>
          <p:cNvPr id="22" name="Rounded Rectangle 21"/>
          <p:cNvSpPr/>
          <p:nvPr/>
        </p:nvSpPr>
        <p:spPr>
          <a:xfrm>
            <a:off x="4782312" y="3794760"/>
            <a:ext cx="2560320" cy="20574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65192" y="395935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6</a:t>
            </a:r>
          </a:p>
        </p:txBody>
      </p:sp>
      <p:sp>
        <p:nvSpPr>
          <p:cNvPr id="24" name="TextBox 23"/>
          <p:cNvSpPr txBox="1"/>
          <p:nvPr/>
        </p:nvSpPr>
        <p:spPr>
          <a:xfrm>
            <a:off x="4919472" y="4453128"/>
            <a:ext cx="2286000" cy="1325880"/>
          </a:xfrm>
          <a:prstGeom prst="rect">
            <a:avLst/>
          </a:prstGeom>
          <a:noFill/>
        </p:spPr>
        <p:txBody>
          <a:bodyPr wrap="square">
            <a:spAutoFit/>
          </a:bodyPr>
          <a:lstStyle/>
          <a:p>
            <a:pPr>
              <a:spcAft>
                <a:spcPts val="400"/>
              </a:spcAft>
              <a:defRPr sz="1300" b="1">
                <a:solidFill>
                  <a:srgbClr val="1F487C"/>
                </a:solidFill>
                <a:latin typeface="Arial"/>
              </a:defRPr>
            </a:pPr>
            <a:r>
              <a:t>Personalized Decision Engine</a:t>
            </a:r>
          </a:p>
          <a:p>
            <a:pPr>
              <a:defRPr sz="1100">
                <a:solidFill>
                  <a:srgbClr val="1A1A1A"/>
                </a:solidFill>
                <a:latin typeface="Arial"/>
              </a:defRPr>
            </a:pPr>
            <a:r>
              <a:t>Develop Decision Tree heuristics to evaluate branching elective choices and career alignment.</a:t>
            </a:r>
          </a:p>
        </p:txBody>
      </p:sp>
      <p:sp>
        <p:nvSpPr>
          <p:cNvPr id="25" name="Rounded Rectangle 24"/>
          <p:cNvSpPr/>
          <p:nvPr/>
        </p:nvSpPr>
        <p:spPr>
          <a:xfrm>
            <a:off x="7598664" y="3794760"/>
            <a:ext cx="2560320" cy="20574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81544" y="395935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7</a:t>
            </a:r>
          </a:p>
        </p:txBody>
      </p:sp>
      <p:sp>
        <p:nvSpPr>
          <p:cNvPr id="27" name="TextBox 26"/>
          <p:cNvSpPr txBox="1"/>
          <p:nvPr/>
        </p:nvSpPr>
        <p:spPr>
          <a:xfrm>
            <a:off x="7735824" y="4453128"/>
            <a:ext cx="2286000" cy="1325880"/>
          </a:xfrm>
          <a:prstGeom prst="rect">
            <a:avLst/>
          </a:prstGeom>
          <a:noFill/>
        </p:spPr>
        <p:txBody>
          <a:bodyPr wrap="square">
            <a:spAutoFit/>
          </a:bodyPr>
          <a:lstStyle/>
          <a:p>
            <a:pPr>
              <a:spcAft>
                <a:spcPts val="400"/>
              </a:spcAft>
              <a:defRPr sz="1300" b="1">
                <a:solidFill>
                  <a:srgbClr val="1F487C"/>
                </a:solidFill>
                <a:latin typeface="Arial"/>
              </a:defRPr>
            </a:pPr>
            <a:r>
              <a:t>Complexity &amp; Benchmarking</a:t>
            </a:r>
          </a:p>
          <a:p>
            <a:pPr>
              <a:defRPr sz="1100">
                <a:solidFill>
                  <a:srgbClr val="1A1A1A"/>
                </a:solidFill>
                <a:latin typeface="Arial"/>
              </a:defRPr>
            </a:pPr>
            <a:r>
              <a:t>Evaluate time and space complexity across all modules to ensure sub-10ms query responsiveness.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PROPOSED SYSTEM — WORKFLOW</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6</a:t>
            </a:r>
          </a:p>
        </p:txBody>
      </p:sp>
      <p:sp>
        <p:nvSpPr>
          <p:cNvPr id="7" name="Rounded Rectangle 6"/>
          <p:cNvSpPr/>
          <p:nvPr/>
        </p:nvSpPr>
        <p:spPr>
          <a:xfrm>
            <a:off x="548640" y="1371600"/>
            <a:ext cx="2423160"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508760"/>
            <a:ext cx="365760" cy="365760"/>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1</a:t>
            </a:r>
          </a:p>
        </p:txBody>
      </p:sp>
      <p:sp>
        <p:nvSpPr>
          <p:cNvPr id="9" name="TextBox 8"/>
          <p:cNvSpPr txBox="1"/>
          <p:nvPr/>
        </p:nvSpPr>
        <p:spPr>
          <a:xfrm>
            <a:off x="1143000" y="1463040"/>
            <a:ext cx="1737360" cy="457200"/>
          </a:xfrm>
          <a:prstGeom prst="rect">
            <a:avLst/>
          </a:prstGeom>
          <a:noFill/>
        </p:spPr>
        <p:txBody>
          <a:bodyPr wrap="none">
            <a:spAutoFit/>
          </a:bodyPr>
          <a:lstStyle/>
          <a:p>
            <a:pPr>
              <a:defRPr sz="1200" b="1">
                <a:solidFill>
                  <a:srgbClr val="1F487C"/>
                </a:solidFill>
                <a:latin typeface="Arial"/>
              </a:defRPr>
            </a:pPr>
            <a:r>
              <a:t>User Profile Input</a:t>
            </a:r>
          </a:p>
        </p:txBody>
      </p:sp>
      <p:sp>
        <p:nvSpPr>
          <p:cNvPr id="10" name="TextBox 9"/>
          <p:cNvSpPr txBox="1"/>
          <p:nvPr/>
        </p:nvSpPr>
        <p:spPr>
          <a:xfrm>
            <a:off x="685800" y="1965960"/>
            <a:ext cx="2148840" cy="822960"/>
          </a:xfrm>
          <a:prstGeom prst="rect">
            <a:avLst/>
          </a:prstGeom>
          <a:noFill/>
        </p:spPr>
        <p:txBody>
          <a:bodyPr wrap="none">
            <a:spAutoFit/>
          </a:bodyPr>
          <a:lstStyle/>
          <a:p>
            <a:pPr>
              <a:defRPr sz="1050">
                <a:solidFill>
                  <a:srgbClr val="1A1A1A"/>
                </a:solidFill>
                <a:latin typeface="Arial"/>
              </a:defRPr>
            </a:pPr>
            <a:r>
              <a:t>Captures completed skills, GPA, &amp; domain targets</a:t>
            </a:r>
          </a:p>
        </p:txBody>
      </p:sp>
      <p:sp>
        <p:nvSpPr>
          <p:cNvPr id="11" name="Right Arrow 10"/>
          <p:cNvSpPr/>
          <p:nvPr/>
        </p:nvSpPr>
        <p:spPr>
          <a:xfrm>
            <a:off x="3044952" y="1965960"/>
            <a:ext cx="310896" cy="228600"/>
          </a:xfrm>
          <a:prstGeom prst="right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1371600"/>
            <a:ext cx="2423160"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66160" y="1508760"/>
            <a:ext cx="365760" cy="365760"/>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2</a:t>
            </a:r>
          </a:p>
        </p:txBody>
      </p:sp>
      <p:sp>
        <p:nvSpPr>
          <p:cNvPr id="14" name="TextBox 13"/>
          <p:cNvSpPr txBox="1"/>
          <p:nvPr/>
        </p:nvSpPr>
        <p:spPr>
          <a:xfrm>
            <a:off x="4023360" y="1463040"/>
            <a:ext cx="1737360" cy="457200"/>
          </a:xfrm>
          <a:prstGeom prst="rect">
            <a:avLst/>
          </a:prstGeom>
          <a:noFill/>
        </p:spPr>
        <p:txBody>
          <a:bodyPr wrap="none">
            <a:spAutoFit/>
          </a:bodyPr>
          <a:lstStyle/>
          <a:p>
            <a:pPr>
              <a:defRPr sz="1200" b="1">
                <a:solidFill>
                  <a:srgbClr val="1F487C"/>
                </a:solidFill>
                <a:latin typeface="Arial"/>
              </a:defRPr>
            </a:pPr>
            <a:r>
              <a:t>Trie Normalization</a:t>
            </a:r>
          </a:p>
        </p:txBody>
      </p:sp>
      <p:sp>
        <p:nvSpPr>
          <p:cNvPr id="15" name="TextBox 14"/>
          <p:cNvSpPr txBox="1"/>
          <p:nvPr/>
        </p:nvSpPr>
        <p:spPr>
          <a:xfrm>
            <a:off x="3566160" y="1965960"/>
            <a:ext cx="2148840" cy="822960"/>
          </a:xfrm>
          <a:prstGeom prst="rect">
            <a:avLst/>
          </a:prstGeom>
          <a:noFill/>
        </p:spPr>
        <p:txBody>
          <a:bodyPr wrap="none">
            <a:spAutoFit/>
          </a:bodyPr>
          <a:lstStyle/>
          <a:p>
            <a:pPr>
              <a:defRPr sz="1050">
                <a:solidFill>
                  <a:srgbClr val="1A1A1A"/>
                </a:solidFill>
                <a:latin typeface="Arial"/>
              </a:defRPr>
            </a:pPr>
            <a:r>
              <a:t>Canonicalizes taxonomy keywords in O(L) time</a:t>
            </a:r>
          </a:p>
        </p:txBody>
      </p:sp>
      <p:sp>
        <p:nvSpPr>
          <p:cNvPr id="16" name="Right Arrow 15"/>
          <p:cNvSpPr/>
          <p:nvPr/>
        </p:nvSpPr>
        <p:spPr>
          <a:xfrm>
            <a:off x="5925312" y="1965960"/>
            <a:ext cx="310896" cy="228600"/>
          </a:xfrm>
          <a:prstGeom prst="right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60" y="1371600"/>
            <a:ext cx="2423160"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1508760"/>
            <a:ext cx="365760" cy="365760"/>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3</a:t>
            </a:r>
          </a:p>
        </p:txBody>
      </p:sp>
      <p:sp>
        <p:nvSpPr>
          <p:cNvPr id="19" name="TextBox 18"/>
          <p:cNvSpPr txBox="1"/>
          <p:nvPr/>
        </p:nvSpPr>
        <p:spPr>
          <a:xfrm>
            <a:off x="6903720" y="1463040"/>
            <a:ext cx="1737360" cy="457200"/>
          </a:xfrm>
          <a:prstGeom prst="rect">
            <a:avLst/>
          </a:prstGeom>
          <a:noFill/>
        </p:spPr>
        <p:txBody>
          <a:bodyPr wrap="none">
            <a:spAutoFit/>
          </a:bodyPr>
          <a:lstStyle/>
          <a:p>
            <a:pPr>
              <a:defRPr sz="1200" b="1">
                <a:solidFill>
                  <a:srgbClr val="1F487C"/>
                </a:solidFill>
                <a:latin typeface="Arial"/>
              </a:defRPr>
            </a:pPr>
            <a:r>
              <a:t>DAG Knowledge Mapping</a:t>
            </a:r>
          </a:p>
        </p:txBody>
      </p:sp>
      <p:sp>
        <p:nvSpPr>
          <p:cNvPr id="20" name="TextBox 19"/>
          <p:cNvSpPr txBox="1"/>
          <p:nvPr/>
        </p:nvSpPr>
        <p:spPr>
          <a:xfrm>
            <a:off x="6446520" y="1965960"/>
            <a:ext cx="2148840" cy="822960"/>
          </a:xfrm>
          <a:prstGeom prst="rect">
            <a:avLst/>
          </a:prstGeom>
          <a:noFill/>
        </p:spPr>
        <p:txBody>
          <a:bodyPr wrap="none">
            <a:spAutoFit/>
          </a:bodyPr>
          <a:lstStyle/>
          <a:p>
            <a:pPr>
              <a:defRPr sz="1050">
                <a:solidFill>
                  <a:srgbClr val="1A1A1A"/>
                </a:solidFill>
                <a:latin typeface="Arial"/>
              </a:defRPr>
            </a:pPr>
            <a:r>
              <a:t>Constructs prerequisite graph with edge weights</a:t>
            </a:r>
          </a:p>
        </p:txBody>
      </p:sp>
      <p:sp>
        <p:nvSpPr>
          <p:cNvPr id="21" name="Right Arrow 20"/>
          <p:cNvSpPr/>
          <p:nvPr/>
        </p:nvSpPr>
        <p:spPr>
          <a:xfrm>
            <a:off x="8805672" y="1965960"/>
            <a:ext cx="310896" cy="228600"/>
          </a:xfrm>
          <a:prstGeom prst="right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89720" y="1371600"/>
            <a:ext cx="2423160"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26880" y="1508760"/>
            <a:ext cx="365760" cy="365760"/>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4</a:t>
            </a:r>
          </a:p>
        </p:txBody>
      </p:sp>
      <p:sp>
        <p:nvSpPr>
          <p:cNvPr id="24" name="TextBox 23"/>
          <p:cNvSpPr txBox="1"/>
          <p:nvPr/>
        </p:nvSpPr>
        <p:spPr>
          <a:xfrm>
            <a:off x="9784080" y="1463040"/>
            <a:ext cx="1737360" cy="457200"/>
          </a:xfrm>
          <a:prstGeom prst="rect">
            <a:avLst/>
          </a:prstGeom>
          <a:noFill/>
        </p:spPr>
        <p:txBody>
          <a:bodyPr wrap="none">
            <a:spAutoFit/>
          </a:bodyPr>
          <a:lstStyle/>
          <a:p>
            <a:pPr>
              <a:defRPr sz="1200" b="1">
                <a:solidFill>
                  <a:srgbClr val="1F487C"/>
                </a:solidFill>
                <a:latin typeface="Arial"/>
              </a:defRPr>
            </a:pPr>
            <a:r>
              <a:t>Skill Deficit Detection</a:t>
            </a:r>
          </a:p>
        </p:txBody>
      </p:sp>
      <p:sp>
        <p:nvSpPr>
          <p:cNvPr id="25" name="TextBox 24"/>
          <p:cNvSpPr txBox="1"/>
          <p:nvPr/>
        </p:nvSpPr>
        <p:spPr>
          <a:xfrm>
            <a:off x="9326880" y="1965960"/>
            <a:ext cx="2148840" cy="822960"/>
          </a:xfrm>
          <a:prstGeom prst="rect">
            <a:avLst/>
          </a:prstGeom>
          <a:noFill/>
        </p:spPr>
        <p:txBody>
          <a:bodyPr wrap="none">
            <a:spAutoFit/>
          </a:bodyPr>
          <a:lstStyle/>
          <a:p>
            <a:pPr>
              <a:defRPr sz="1050">
                <a:solidFill>
                  <a:srgbClr val="1A1A1A"/>
                </a:solidFill>
                <a:latin typeface="Arial"/>
              </a:defRPr>
            </a:pPr>
            <a:r>
              <a:t>Computes set differential against target roles</a:t>
            </a:r>
          </a:p>
        </p:txBody>
      </p:sp>
      <p:sp>
        <p:nvSpPr>
          <p:cNvPr id="26" name="Down Arrow 25"/>
          <p:cNvSpPr/>
          <p:nvPr/>
        </p:nvSpPr>
        <p:spPr>
          <a:xfrm>
            <a:off x="10287000" y="2971800"/>
            <a:ext cx="228600" cy="365760"/>
          </a:xfrm>
          <a:prstGeom prst="down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89720" y="3474720"/>
            <a:ext cx="2423160"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326880" y="3611880"/>
            <a:ext cx="365760" cy="365760"/>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5</a:t>
            </a:r>
          </a:p>
        </p:txBody>
      </p:sp>
      <p:sp>
        <p:nvSpPr>
          <p:cNvPr id="29" name="TextBox 28"/>
          <p:cNvSpPr txBox="1"/>
          <p:nvPr/>
        </p:nvSpPr>
        <p:spPr>
          <a:xfrm>
            <a:off x="9784080" y="3566160"/>
            <a:ext cx="1737360" cy="457200"/>
          </a:xfrm>
          <a:prstGeom prst="rect">
            <a:avLst/>
          </a:prstGeom>
          <a:noFill/>
        </p:spPr>
        <p:txBody>
          <a:bodyPr wrap="none">
            <a:spAutoFit/>
          </a:bodyPr>
          <a:lstStyle/>
          <a:p>
            <a:pPr>
              <a:defRPr sz="1200" b="1">
                <a:solidFill>
                  <a:srgbClr val="1F487C"/>
                </a:solidFill>
                <a:latin typeface="Arial"/>
              </a:defRPr>
            </a:pPr>
            <a:r>
              <a:t>Max-Heap Ranking</a:t>
            </a:r>
          </a:p>
        </p:txBody>
      </p:sp>
      <p:sp>
        <p:nvSpPr>
          <p:cNvPr id="30" name="TextBox 29"/>
          <p:cNvSpPr txBox="1"/>
          <p:nvPr/>
        </p:nvSpPr>
        <p:spPr>
          <a:xfrm>
            <a:off x="9326880" y="4069080"/>
            <a:ext cx="2148840" cy="822960"/>
          </a:xfrm>
          <a:prstGeom prst="rect">
            <a:avLst/>
          </a:prstGeom>
          <a:noFill/>
        </p:spPr>
        <p:txBody>
          <a:bodyPr wrap="none">
            <a:spAutoFit/>
          </a:bodyPr>
          <a:lstStyle/>
          <a:p>
            <a:pPr>
              <a:defRPr sz="1050">
                <a:solidFill>
                  <a:srgbClr val="1A1A1A"/>
                </a:solidFill>
                <a:latin typeface="Arial"/>
              </a:defRPr>
            </a:pPr>
            <a:r>
              <a:t>Orders missing skills by industry market urgency</a:t>
            </a:r>
          </a:p>
        </p:txBody>
      </p:sp>
      <p:sp>
        <p:nvSpPr>
          <p:cNvPr id="31" name="Left Arrow 30"/>
          <p:cNvSpPr/>
          <p:nvPr/>
        </p:nvSpPr>
        <p:spPr>
          <a:xfrm>
            <a:off x="8805672" y="4069080"/>
            <a:ext cx="310896" cy="228600"/>
          </a:xfrm>
          <a:prstGeom prst="left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309360" y="3474720"/>
            <a:ext cx="2423160"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46520" y="3611880"/>
            <a:ext cx="365760" cy="365760"/>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6</a:t>
            </a:r>
          </a:p>
        </p:txBody>
      </p:sp>
      <p:sp>
        <p:nvSpPr>
          <p:cNvPr id="34" name="TextBox 33"/>
          <p:cNvSpPr txBox="1"/>
          <p:nvPr/>
        </p:nvSpPr>
        <p:spPr>
          <a:xfrm>
            <a:off x="6903720" y="3566160"/>
            <a:ext cx="1737360" cy="457200"/>
          </a:xfrm>
          <a:prstGeom prst="rect">
            <a:avLst/>
          </a:prstGeom>
          <a:noFill/>
        </p:spPr>
        <p:txBody>
          <a:bodyPr wrap="none">
            <a:spAutoFit/>
          </a:bodyPr>
          <a:lstStyle/>
          <a:p>
            <a:pPr>
              <a:defRPr sz="1200" b="1">
                <a:solidFill>
                  <a:srgbClr val="1F487C"/>
                </a:solidFill>
                <a:latin typeface="Arial"/>
              </a:defRPr>
            </a:pPr>
            <a:r>
              <a:t>Dijkstra Traversal</a:t>
            </a:r>
          </a:p>
        </p:txBody>
      </p:sp>
      <p:sp>
        <p:nvSpPr>
          <p:cNvPr id="35" name="TextBox 34"/>
          <p:cNvSpPr txBox="1"/>
          <p:nvPr/>
        </p:nvSpPr>
        <p:spPr>
          <a:xfrm>
            <a:off x="6446520" y="4069080"/>
            <a:ext cx="2148840" cy="822960"/>
          </a:xfrm>
          <a:prstGeom prst="rect">
            <a:avLst/>
          </a:prstGeom>
          <a:noFill/>
        </p:spPr>
        <p:txBody>
          <a:bodyPr wrap="none">
            <a:spAutoFit/>
          </a:bodyPr>
          <a:lstStyle/>
          <a:p>
            <a:pPr>
              <a:defRPr sz="1050">
                <a:solidFill>
                  <a:srgbClr val="1A1A1A"/>
                </a:solidFill>
                <a:latin typeface="Arial"/>
              </a:defRPr>
            </a:pPr>
            <a:r>
              <a:t>Computes lowest-effort, shortest milestone path</a:t>
            </a:r>
          </a:p>
        </p:txBody>
      </p:sp>
      <p:sp>
        <p:nvSpPr>
          <p:cNvPr id="36" name="Left Arrow 35"/>
          <p:cNvSpPr/>
          <p:nvPr/>
        </p:nvSpPr>
        <p:spPr>
          <a:xfrm>
            <a:off x="5925312" y="4069080"/>
            <a:ext cx="310896" cy="228600"/>
          </a:xfrm>
          <a:prstGeom prst="left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429000" y="3474720"/>
            <a:ext cx="2423160"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566160" y="3611880"/>
            <a:ext cx="365760" cy="365760"/>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7</a:t>
            </a:r>
          </a:p>
        </p:txBody>
      </p:sp>
      <p:sp>
        <p:nvSpPr>
          <p:cNvPr id="39" name="TextBox 38"/>
          <p:cNvSpPr txBox="1"/>
          <p:nvPr/>
        </p:nvSpPr>
        <p:spPr>
          <a:xfrm>
            <a:off x="4023360" y="3566160"/>
            <a:ext cx="1737360" cy="457200"/>
          </a:xfrm>
          <a:prstGeom prst="rect">
            <a:avLst/>
          </a:prstGeom>
          <a:noFill/>
        </p:spPr>
        <p:txBody>
          <a:bodyPr wrap="none">
            <a:spAutoFit/>
          </a:bodyPr>
          <a:lstStyle/>
          <a:p>
            <a:pPr>
              <a:defRPr sz="1200" b="1">
                <a:solidFill>
                  <a:srgbClr val="1F487C"/>
                </a:solidFill>
                <a:latin typeface="Arial"/>
              </a:defRPr>
            </a:pPr>
            <a:r>
              <a:t>Curriculum Roadmap</a:t>
            </a:r>
          </a:p>
        </p:txBody>
      </p:sp>
      <p:sp>
        <p:nvSpPr>
          <p:cNvPr id="40" name="TextBox 39"/>
          <p:cNvSpPr txBox="1"/>
          <p:nvPr/>
        </p:nvSpPr>
        <p:spPr>
          <a:xfrm>
            <a:off x="3566160" y="4069080"/>
            <a:ext cx="2148840" cy="822960"/>
          </a:xfrm>
          <a:prstGeom prst="rect">
            <a:avLst/>
          </a:prstGeom>
          <a:noFill/>
        </p:spPr>
        <p:txBody>
          <a:bodyPr wrap="none">
            <a:spAutoFit/>
          </a:bodyPr>
          <a:lstStyle/>
          <a:p>
            <a:pPr>
              <a:defRPr sz="1050">
                <a:solidFill>
                  <a:srgbClr val="1A1A1A"/>
                </a:solidFill>
                <a:latin typeface="Arial"/>
              </a:defRPr>
            </a:pPr>
            <a:r>
              <a:t>Renders timeline with verified prerequisite order</a:t>
            </a:r>
          </a:p>
        </p:txBody>
      </p:sp>
      <p:sp>
        <p:nvSpPr>
          <p:cNvPr id="41" name="Rounded Rectangle 40"/>
          <p:cNvSpPr/>
          <p:nvPr/>
        </p:nvSpPr>
        <p:spPr>
          <a:xfrm>
            <a:off x="548640" y="3474720"/>
            <a:ext cx="2423160" cy="1508760"/>
          </a:xfrm>
          <a:prstGeom prst="roundRect">
            <a:avLst/>
          </a:prstGeom>
          <a:solidFill>
            <a:srgbClr val="DCE6F1"/>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F487C"/>
                </a:solidFill>
                <a:latin typeface="Arial"/>
              </a:defRPr>
            </a:pPr>
            <a:r>
              <a:t>Mathematical Proof:</a:t>
            </a:r>
            <a:br/>
            <a:r>
              <a:t>Cycle-free topological guarantees eliminate circular dependencies; Dijkstra guarantees optimal minimum learning effort.</a:t>
            </a:r>
          </a:p>
        </p:txBody>
      </p:sp>
      <p:sp>
        <p:nvSpPr>
          <p:cNvPr id="42" name="Rounded Rectangle 41"/>
          <p:cNvSpPr/>
          <p:nvPr/>
        </p:nvSpPr>
        <p:spPr>
          <a:xfrm>
            <a:off x="548640" y="5303520"/>
            <a:ext cx="11091672" cy="685800"/>
          </a:xfrm>
          <a:prstGeom prst="roundRect">
            <a:avLst/>
          </a:prstGeom>
          <a:solidFill>
            <a:srgbClr val="1F487C"/>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Lifecycle: Profile Capture → Trie Normalization → DAG Prerequisite Check → Heap Gap Ranking → Dijkstra Traversal → Roadmap Delivery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SYSTEM ARCHITECTURE</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7</a:t>
            </a:r>
          </a:p>
        </p:txBody>
      </p:sp>
      <p:sp>
        <p:nvSpPr>
          <p:cNvPr id="7" name="Rounded Rectangle 6"/>
          <p:cNvSpPr/>
          <p:nvPr/>
        </p:nvSpPr>
        <p:spPr>
          <a:xfrm>
            <a:off x="548640" y="1280160"/>
            <a:ext cx="11091672" cy="86868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487C"/>
                </a:solidFill>
                <a:latin typeface="Arial"/>
              </a:rPr>
              <a:t>Presentation Layer — Interactive Web Dashboard  
</a:t>
            </a:r>
            <a:r>
              <a:rPr sz="1100">
                <a:solidFill>
                  <a:srgbClr val="1A1A1A"/>
                </a:solidFill>
                <a:latin typeface="Arial"/>
              </a:rPr>
              <a:t>Streamlit &amp; Modern HTML5 / CSS3 Interface · Dynamic Prerequisite Visualizer · Real-Time Skill Autocomplete · Feasibility Metrics View</a:t>
            </a:r>
          </a:p>
        </p:txBody>
      </p:sp>
      <p:sp>
        <p:nvSpPr>
          <p:cNvPr id="8" name="Down Arrow 7"/>
          <p:cNvSpPr/>
          <p:nvPr/>
        </p:nvSpPr>
        <p:spPr>
          <a:xfrm>
            <a:off x="5943600" y="2212848"/>
            <a:ext cx="301752" cy="347472"/>
          </a:xfrm>
          <a:prstGeom prst="down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633472"/>
            <a:ext cx="11091672" cy="86868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487C"/>
                </a:solidFill>
                <a:latin typeface="Arial"/>
              </a:rPr>
              <a:t>Application Logic &amp; Pipeline Controller  
</a:t>
            </a:r>
            <a:r>
              <a:rPr sz="1100">
                <a:solidFill>
                  <a:srgbClr val="1A1A1A"/>
                </a:solidFill>
                <a:latin typeface="Arial"/>
              </a:rPr>
              <a:t>Python Orchestration Engine · RESTful API Endpoints · State Management · Profile Validation · Input Sanitization &amp; Serialization</a:t>
            </a:r>
          </a:p>
        </p:txBody>
      </p:sp>
      <p:sp>
        <p:nvSpPr>
          <p:cNvPr id="10" name="Down Arrow 9"/>
          <p:cNvSpPr/>
          <p:nvPr/>
        </p:nvSpPr>
        <p:spPr>
          <a:xfrm>
            <a:off x="5943600" y="3566160"/>
            <a:ext cx="301752" cy="347472"/>
          </a:xfrm>
          <a:prstGeom prst="down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3977639"/>
            <a:ext cx="11091672" cy="224028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023360"/>
            <a:ext cx="4572000" cy="320040"/>
          </a:xfrm>
          <a:prstGeom prst="rect">
            <a:avLst/>
          </a:prstGeom>
          <a:noFill/>
        </p:spPr>
        <p:txBody>
          <a:bodyPr wrap="none">
            <a:spAutoFit/>
          </a:bodyPr>
          <a:lstStyle/>
          <a:p>
            <a:pPr>
              <a:defRPr sz="1300" b="1">
                <a:solidFill>
                  <a:srgbClr val="1F487C"/>
                </a:solidFill>
                <a:latin typeface="Arial"/>
              </a:defRPr>
            </a:pPr>
            <a:r>
              <a:t>Core DSA Engine &amp; Mathematical Modules</a:t>
            </a:r>
          </a:p>
        </p:txBody>
      </p:sp>
      <p:sp>
        <p:nvSpPr>
          <p:cNvPr id="13" name="Rounded Rectangle 12"/>
          <p:cNvSpPr/>
          <p:nvPr/>
        </p:nvSpPr>
        <p:spPr>
          <a:xfrm>
            <a:off x="731520" y="4434840"/>
            <a:ext cx="2066543" cy="1600200"/>
          </a:xfrm>
          <a:prstGeom prst="roundRect">
            <a:avLst/>
          </a:prstGeom>
          <a:solidFill>
            <a:srgbClr val="FFFFFF"/>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1F487C"/>
                </a:solidFill>
                <a:latin typeface="Arial"/>
              </a:defRPr>
            </a:pPr>
            <a:r>
              <a:t>Knowledge Graph</a:t>
            </a:r>
          </a:p>
          <a:p>
            <a:pPr algn="ctr">
              <a:defRPr sz="1000">
                <a:solidFill>
                  <a:srgbClr val="1A1A1A"/>
                </a:solidFill>
                <a:latin typeface="Arial"/>
              </a:defRPr>
            </a:pPr>
            <a:r>
              <a:t>Adjacency List</a:t>
            </a:r>
            <a:br/>
            <a:r>
              <a:t>DAG Prerequisite Model</a:t>
            </a:r>
            <a:br/>
            <a:r>
              <a:t>Kahn's Topological Sort</a:t>
            </a:r>
          </a:p>
        </p:txBody>
      </p:sp>
      <p:sp>
        <p:nvSpPr>
          <p:cNvPr id="14" name="Rounded Rectangle 13"/>
          <p:cNvSpPr/>
          <p:nvPr/>
        </p:nvSpPr>
        <p:spPr>
          <a:xfrm>
            <a:off x="2907792" y="4434840"/>
            <a:ext cx="2066543" cy="1600200"/>
          </a:xfrm>
          <a:prstGeom prst="roundRect">
            <a:avLst/>
          </a:prstGeom>
          <a:solidFill>
            <a:srgbClr val="FFFFFF"/>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1F487C"/>
                </a:solidFill>
                <a:latin typeface="Arial"/>
              </a:defRPr>
            </a:pPr>
            <a:r>
              <a:t>Shortest Path Engine</a:t>
            </a:r>
          </a:p>
          <a:p>
            <a:pPr algn="ctr">
              <a:defRPr sz="1000">
                <a:solidFill>
                  <a:srgbClr val="1A1A1A"/>
                </a:solidFill>
                <a:latin typeface="Arial"/>
              </a:defRPr>
            </a:pPr>
            <a:r>
              <a:t>Dijkstra Priority Queue</a:t>
            </a:r>
            <a:br/>
            <a:r>
              <a:t>Unweighted BFS Traversal</a:t>
            </a:r>
            <a:br/>
            <a:r>
              <a:t>Relaxation Pipeline</a:t>
            </a:r>
          </a:p>
        </p:txBody>
      </p:sp>
      <p:sp>
        <p:nvSpPr>
          <p:cNvPr id="15" name="Rounded Rectangle 14"/>
          <p:cNvSpPr/>
          <p:nvPr/>
        </p:nvSpPr>
        <p:spPr>
          <a:xfrm>
            <a:off x="5084064" y="4434840"/>
            <a:ext cx="2066543" cy="1600200"/>
          </a:xfrm>
          <a:prstGeom prst="roundRect">
            <a:avLst/>
          </a:prstGeom>
          <a:solidFill>
            <a:srgbClr val="FFFFFF"/>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1F487C"/>
                </a:solidFill>
                <a:latin typeface="Arial"/>
              </a:defRPr>
            </a:pPr>
            <a:r>
              <a:t>Trie Search Engine</a:t>
            </a:r>
          </a:p>
          <a:p>
            <a:pPr algn="ctr">
              <a:defRPr sz="1000">
                <a:solidFill>
                  <a:srgbClr val="1A1A1A"/>
                </a:solidFill>
                <a:latin typeface="Arial"/>
              </a:defRPr>
            </a:pPr>
            <a:r>
              <a:t>26-Way Prefix Tree</a:t>
            </a:r>
            <a:br/>
            <a:r>
              <a:t>Typo-Tolerant Lookup</a:t>
            </a:r>
            <a:br/>
            <a:r>
              <a:t>Sub-Millisecond Matches</a:t>
            </a:r>
          </a:p>
        </p:txBody>
      </p:sp>
      <p:sp>
        <p:nvSpPr>
          <p:cNvPr id="16" name="Rounded Rectangle 15"/>
          <p:cNvSpPr/>
          <p:nvPr/>
        </p:nvSpPr>
        <p:spPr>
          <a:xfrm>
            <a:off x="7260336" y="4434840"/>
            <a:ext cx="2066543" cy="1600200"/>
          </a:xfrm>
          <a:prstGeom prst="roundRect">
            <a:avLst/>
          </a:prstGeom>
          <a:solidFill>
            <a:srgbClr val="FFFFFF"/>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1F487C"/>
                </a:solidFill>
                <a:latin typeface="Arial"/>
              </a:defRPr>
            </a:pPr>
            <a:r>
              <a:t>Priority Queue Sorter</a:t>
            </a:r>
          </a:p>
          <a:p>
            <a:pPr algn="ctr">
              <a:defRPr sz="1000">
                <a:solidFill>
                  <a:srgbClr val="1A1A1A"/>
                </a:solidFill>
                <a:latin typeface="Arial"/>
              </a:defRPr>
            </a:pPr>
            <a:r>
              <a:t>Binary Max-Heap</a:t>
            </a:r>
            <a:br/>
            <a:r>
              <a:t>Dynamic Gap Weighting</a:t>
            </a:r>
            <a:br/>
            <a:r>
              <a:t>Instantaneous Max Extract</a:t>
            </a:r>
          </a:p>
        </p:txBody>
      </p:sp>
      <p:sp>
        <p:nvSpPr>
          <p:cNvPr id="17" name="Rounded Rectangle 16"/>
          <p:cNvSpPr/>
          <p:nvPr/>
        </p:nvSpPr>
        <p:spPr>
          <a:xfrm>
            <a:off x="9436608" y="4434840"/>
            <a:ext cx="2066543" cy="1600200"/>
          </a:xfrm>
          <a:prstGeom prst="roundRect">
            <a:avLst/>
          </a:prstGeom>
          <a:solidFill>
            <a:srgbClr val="FFFFFF"/>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1F487C"/>
                </a:solidFill>
                <a:latin typeface="Arial"/>
              </a:defRPr>
            </a:pPr>
            <a:r>
              <a:t>Decision &amp; DP Cache</a:t>
            </a:r>
          </a:p>
          <a:p>
            <a:pPr algn="ctr">
              <a:defRPr sz="1000">
                <a:solidFill>
                  <a:srgbClr val="1A1A1A"/>
                </a:solidFill>
                <a:latin typeface="Arial"/>
              </a:defRPr>
            </a:pPr>
            <a:r>
              <a:t>Decision Tree Heuristic</a:t>
            </a:r>
            <a:br/>
            <a:r>
              <a:t>Memoization Cache</a:t>
            </a:r>
            <a:br/>
            <a:r>
              <a:t>Overlapping Subpaths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TECHNOLOGIES USED</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8</a:t>
            </a:r>
          </a:p>
        </p:txBody>
      </p:sp>
      <p:sp>
        <p:nvSpPr>
          <p:cNvPr id="7" name="Rounded Rectangle 6"/>
          <p:cNvSpPr/>
          <p:nvPr/>
        </p:nvSpPr>
        <p:spPr>
          <a:xfrm>
            <a:off x="548640" y="1371600"/>
            <a:ext cx="25603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2560320" cy="438912"/>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Python 3.11</a:t>
            </a:r>
          </a:p>
        </p:txBody>
      </p:sp>
      <p:sp>
        <p:nvSpPr>
          <p:cNvPr id="9" name="TextBox 8"/>
          <p:cNvSpPr txBox="1"/>
          <p:nvPr/>
        </p:nvSpPr>
        <p:spPr>
          <a:xfrm>
            <a:off x="658368" y="1874520"/>
            <a:ext cx="2340864" cy="1600200"/>
          </a:xfrm>
          <a:prstGeom prst="rect">
            <a:avLst/>
          </a:prstGeom>
          <a:noFill/>
        </p:spPr>
        <p:txBody>
          <a:bodyPr wrap="square">
            <a:spAutoFit/>
          </a:bodyPr>
          <a:lstStyle/>
          <a:p>
            <a:pPr>
              <a:spcAft>
                <a:spcPts val="400"/>
              </a:spcAft>
              <a:defRPr sz="1100" b="1">
                <a:solidFill>
                  <a:srgbClr val="006FC0"/>
                </a:solidFill>
                <a:latin typeface="Arial"/>
              </a:defRPr>
            </a:pPr>
            <a:r>
              <a:t>Core Algorithmic Logic</a:t>
            </a:r>
          </a:p>
          <a:p>
            <a:pPr>
              <a:defRPr sz="1000">
                <a:solidFill>
                  <a:srgbClr val="1A1A1A"/>
                </a:solidFill>
                <a:latin typeface="Arial"/>
              </a:defRPr>
            </a:pPr>
            <a:r>
              <a:t>Implements graph algorithms, Dijkstra pathfinding, custom Trie nodes, and binary heaps natively with high execution efficiency.</a:t>
            </a:r>
          </a:p>
        </p:txBody>
      </p:sp>
      <p:sp>
        <p:nvSpPr>
          <p:cNvPr id="10" name="Rounded Rectangle 9"/>
          <p:cNvSpPr/>
          <p:nvPr/>
        </p:nvSpPr>
        <p:spPr>
          <a:xfrm>
            <a:off x="3364992" y="1371600"/>
            <a:ext cx="25603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4992" y="1371600"/>
            <a:ext cx="2560320" cy="438912"/>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Streamlit Framework</a:t>
            </a:r>
          </a:p>
        </p:txBody>
      </p:sp>
      <p:sp>
        <p:nvSpPr>
          <p:cNvPr id="12" name="TextBox 11"/>
          <p:cNvSpPr txBox="1"/>
          <p:nvPr/>
        </p:nvSpPr>
        <p:spPr>
          <a:xfrm>
            <a:off x="3474720" y="1874520"/>
            <a:ext cx="2340864" cy="1600200"/>
          </a:xfrm>
          <a:prstGeom prst="rect">
            <a:avLst/>
          </a:prstGeom>
          <a:noFill/>
        </p:spPr>
        <p:txBody>
          <a:bodyPr wrap="square">
            <a:spAutoFit/>
          </a:bodyPr>
          <a:lstStyle/>
          <a:p>
            <a:pPr>
              <a:spcAft>
                <a:spcPts val="400"/>
              </a:spcAft>
              <a:defRPr sz="1100" b="1">
                <a:solidFill>
                  <a:srgbClr val="006FC0"/>
                </a:solidFill>
                <a:latin typeface="Arial"/>
              </a:defRPr>
            </a:pPr>
            <a:r>
              <a:t>Interactive Web Frontend</a:t>
            </a:r>
          </a:p>
          <a:p>
            <a:pPr>
              <a:defRPr sz="1000">
                <a:solidFill>
                  <a:srgbClr val="1A1A1A"/>
                </a:solidFill>
                <a:latin typeface="Arial"/>
              </a:defRPr>
            </a:pPr>
            <a:r>
              <a:t>Provides responsive student dashboard widgets, real-time input sliders, dynamic state management, and clear UI presentation.</a:t>
            </a:r>
          </a:p>
        </p:txBody>
      </p:sp>
      <p:sp>
        <p:nvSpPr>
          <p:cNvPr id="13" name="Rounded Rectangle 12"/>
          <p:cNvSpPr/>
          <p:nvPr/>
        </p:nvSpPr>
        <p:spPr>
          <a:xfrm>
            <a:off x="6181344" y="1371600"/>
            <a:ext cx="25603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371600"/>
            <a:ext cx="2560320" cy="438912"/>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NetworkX Library</a:t>
            </a:r>
          </a:p>
        </p:txBody>
      </p:sp>
      <p:sp>
        <p:nvSpPr>
          <p:cNvPr id="15" name="TextBox 14"/>
          <p:cNvSpPr txBox="1"/>
          <p:nvPr/>
        </p:nvSpPr>
        <p:spPr>
          <a:xfrm>
            <a:off x="6291072" y="1874520"/>
            <a:ext cx="2340864" cy="1600200"/>
          </a:xfrm>
          <a:prstGeom prst="rect">
            <a:avLst/>
          </a:prstGeom>
          <a:noFill/>
        </p:spPr>
        <p:txBody>
          <a:bodyPr wrap="square">
            <a:spAutoFit/>
          </a:bodyPr>
          <a:lstStyle/>
          <a:p>
            <a:pPr>
              <a:spcAft>
                <a:spcPts val="400"/>
              </a:spcAft>
              <a:defRPr sz="1100" b="1">
                <a:solidFill>
                  <a:srgbClr val="006FC0"/>
                </a:solidFill>
                <a:latin typeface="Arial"/>
              </a:defRPr>
            </a:pPr>
            <a:r>
              <a:t>Graph Prerequisite Modeling</a:t>
            </a:r>
          </a:p>
          <a:p>
            <a:pPr>
              <a:defRPr sz="1000">
                <a:solidFill>
                  <a:srgbClr val="1A1A1A"/>
                </a:solidFill>
                <a:latin typeface="Arial"/>
              </a:defRPr>
            </a:pPr>
            <a:r>
              <a:t>Used for graph structural validation, cycle detection, topological verification, and adjacency graph manipulation.</a:t>
            </a:r>
          </a:p>
        </p:txBody>
      </p:sp>
      <p:sp>
        <p:nvSpPr>
          <p:cNvPr id="16" name="Rounded Rectangle 15"/>
          <p:cNvSpPr/>
          <p:nvPr/>
        </p:nvSpPr>
        <p:spPr>
          <a:xfrm>
            <a:off x="8997696" y="1371600"/>
            <a:ext cx="25603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97696" y="1371600"/>
            <a:ext cx="2560320" cy="438912"/>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Custom Trie Engine</a:t>
            </a:r>
          </a:p>
        </p:txBody>
      </p:sp>
      <p:sp>
        <p:nvSpPr>
          <p:cNvPr id="18" name="TextBox 17"/>
          <p:cNvSpPr txBox="1"/>
          <p:nvPr/>
        </p:nvSpPr>
        <p:spPr>
          <a:xfrm>
            <a:off x="9107424" y="1874520"/>
            <a:ext cx="2340864" cy="1600200"/>
          </a:xfrm>
          <a:prstGeom prst="rect">
            <a:avLst/>
          </a:prstGeom>
          <a:noFill/>
        </p:spPr>
        <p:txBody>
          <a:bodyPr wrap="square">
            <a:spAutoFit/>
          </a:bodyPr>
          <a:lstStyle/>
          <a:p>
            <a:pPr>
              <a:spcAft>
                <a:spcPts val="400"/>
              </a:spcAft>
              <a:defRPr sz="1100" b="1">
                <a:solidFill>
                  <a:srgbClr val="006FC0"/>
                </a:solidFill>
                <a:latin typeface="Arial"/>
              </a:defRPr>
            </a:pPr>
            <a:r>
              <a:t>Prefix Search &amp; Autocomplete</a:t>
            </a:r>
          </a:p>
          <a:p>
            <a:pPr>
              <a:defRPr sz="1000">
                <a:solidFill>
                  <a:srgbClr val="1A1A1A"/>
                </a:solidFill>
                <a:latin typeface="Arial"/>
              </a:defRPr>
            </a:pPr>
            <a:r>
              <a:t>Engineered from scratch using Python classes for sub-millisecond keyword lookup and canonical taxonomy matching.</a:t>
            </a:r>
          </a:p>
        </p:txBody>
      </p:sp>
      <p:sp>
        <p:nvSpPr>
          <p:cNvPr id="19" name="Rounded Rectangle 18"/>
          <p:cNvSpPr/>
          <p:nvPr/>
        </p:nvSpPr>
        <p:spPr>
          <a:xfrm>
            <a:off x="1965960" y="3840480"/>
            <a:ext cx="25603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65960" y="3840480"/>
            <a:ext cx="2560320" cy="438912"/>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Python Heapq Module</a:t>
            </a:r>
          </a:p>
        </p:txBody>
      </p:sp>
      <p:sp>
        <p:nvSpPr>
          <p:cNvPr id="21" name="TextBox 20"/>
          <p:cNvSpPr txBox="1"/>
          <p:nvPr/>
        </p:nvSpPr>
        <p:spPr>
          <a:xfrm>
            <a:off x="2075688" y="4343400"/>
            <a:ext cx="2340864" cy="1600200"/>
          </a:xfrm>
          <a:prstGeom prst="rect">
            <a:avLst/>
          </a:prstGeom>
          <a:noFill/>
        </p:spPr>
        <p:txBody>
          <a:bodyPr wrap="square">
            <a:spAutoFit/>
          </a:bodyPr>
          <a:lstStyle/>
          <a:p>
            <a:pPr>
              <a:spcAft>
                <a:spcPts val="400"/>
              </a:spcAft>
              <a:defRPr sz="1100" b="1">
                <a:solidFill>
                  <a:srgbClr val="006FC0"/>
                </a:solidFill>
                <a:latin typeface="Arial"/>
              </a:defRPr>
            </a:pPr>
            <a:r>
              <a:t>Priority Queue Implementation</a:t>
            </a:r>
          </a:p>
          <a:p>
            <a:pPr>
              <a:defRPr sz="1000">
                <a:solidFill>
                  <a:srgbClr val="1A1A1A"/>
                </a:solidFill>
                <a:latin typeface="Arial"/>
              </a:defRPr>
            </a:pPr>
            <a:r>
              <a:t>Powers the Max-Heap priority engine to dynamically rank missing student competencies by industry urgency.</a:t>
            </a:r>
          </a:p>
        </p:txBody>
      </p:sp>
      <p:sp>
        <p:nvSpPr>
          <p:cNvPr id="22" name="Rounded Rectangle 21"/>
          <p:cNvSpPr/>
          <p:nvPr/>
        </p:nvSpPr>
        <p:spPr>
          <a:xfrm>
            <a:off x="4782312" y="3840480"/>
            <a:ext cx="25603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82312" y="3840480"/>
            <a:ext cx="2560320" cy="438912"/>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Matplotlib &amp; Graphviz</a:t>
            </a:r>
          </a:p>
        </p:txBody>
      </p:sp>
      <p:sp>
        <p:nvSpPr>
          <p:cNvPr id="24" name="TextBox 23"/>
          <p:cNvSpPr txBox="1"/>
          <p:nvPr/>
        </p:nvSpPr>
        <p:spPr>
          <a:xfrm>
            <a:off x="4892040" y="4343400"/>
            <a:ext cx="2340864" cy="1600200"/>
          </a:xfrm>
          <a:prstGeom prst="rect">
            <a:avLst/>
          </a:prstGeom>
          <a:noFill/>
        </p:spPr>
        <p:txBody>
          <a:bodyPr wrap="square">
            <a:spAutoFit/>
          </a:bodyPr>
          <a:lstStyle/>
          <a:p>
            <a:pPr>
              <a:spcAft>
                <a:spcPts val="400"/>
              </a:spcAft>
              <a:defRPr sz="1100" b="1">
                <a:solidFill>
                  <a:srgbClr val="006FC0"/>
                </a:solidFill>
                <a:latin typeface="Arial"/>
              </a:defRPr>
            </a:pPr>
            <a:r>
              <a:t>Roadmap &amp; Graph Rendering</a:t>
            </a:r>
          </a:p>
          <a:p>
            <a:pPr>
              <a:defRPr sz="1000">
                <a:solidFill>
                  <a:srgbClr val="1A1A1A"/>
                </a:solidFill>
                <a:latin typeface="Arial"/>
              </a:defRPr>
            </a:pPr>
            <a:r>
              <a:t>Generates clean, publication-quality visual milestone roadmaps, DAG flowcharts, and execution hierarchy diagrams.</a:t>
            </a:r>
          </a:p>
        </p:txBody>
      </p:sp>
      <p:sp>
        <p:nvSpPr>
          <p:cNvPr id="25" name="Rounded Rectangle 24"/>
          <p:cNvSpPr/>
          <p:nvPr/>
        </p:nvSpPr>
        <p:spPr>
          <a:xfrm>
            <a:off x="7598664" y="3840480"/>
            <a:ext cx="25603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98664" y="3840480"/>
            <a:ext cx="2560320" cy="438912"/>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PyTest &amp; CProfile</a:t>
            </a:r>
          </a:p>
        </p:txBody>
      </p:sp>
      <p:sp>
        <p:nvSpPr>
          <p:cNvPr id="27" name="TextBox 26"/>
          <p:cNvSpPr txBox="1"/>
          <p:nvPr/>
        </p:nvSpPr>
        <p:spPr>
          <a:xfrm>
            <a:off x="7708392" y="4343400"/>
            <a:ext cx="2340864" cy="1600200"/>
          </a:xfrm>
          <a:prstGeom prst="rect">
            <a:avLst/>
          </a:prstGeom>
          <a:noFill/>
        </p:spPr>
        <p:txBody>
          <a:bodyPr wrap="square">
            <a:spAutoFit/>
          </a:bodyPr>
          <a:lstStyle/>
          <a:p>
            <a:pPr>
              <a:spcAft>
                <a:spcPts val="400"/>
              </a:spcAft>
              <a:defRPr sz="1100" b="1">
                <a:solidFill>
                  <a:srgbClr val="006FC0"/>
                </a:solidFill>
                <a:latin typeface="Arial"/>
              </a:defRPr>
            </a:pPr>
            <a:r>
              <a:t>Verification &amp; Benchmarking</a:t>
            </a:r>
          </a:p>
          <a:p>
            <a:pPr>
              <a:defRPr sz="1000">
                <a:solidFill>
                  <a:srgbClr val="1A1A1A"/>
                </a:solidFill>
                <a:latin typeface="Arial"/>
              </a:defRPr>
            </a:pPr>
            <a:r>
              <a:t>Ensures comprehensive unit test coverage, validates algorithmic edge cases, and benchmarks theoretical time complexities.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CAREER KNOWLEDGE GRAPH (DAG)</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9</a:t>
            </a:r>
          </a:p>
        </p:txBody>
      </p:sp>
      <p:sp>
        <p:nvSpPr>
          <p:cNvPr id="7" name="Rounded Rectangle 6"/>
          <p:cNvSpPr/>
          <p:nvPr/>
        </p:nvSpPr>
        <p:spPr>
          <a:xfrm>
            <a:off x="54864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Graph Representation &amp; Properties</a:t>
            </a:r>
          </a:p>
        </p:txBody>
      </p:sp>
      <p:sp>
        <p:nvSpPr>
          <p:cNvPr id="9" name="TextBox 8"/>
          <p:cNvSpPr txBox="1"/>
          <p:nvPr/>
        </p:nvSpPr>
        <p:spPr>
          <a:xfrm>
            <a:off x="68580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Vertex Representation (V): </a:t>
            </a:r>
            <a:r>
              <a:rPr sz="1300" b="0">
                <a:solidFill>
                  <a:srgbClr val="1A1A1A"/>
                </a:solidFill>
                <a:latin typeface="Arial"/>
              </a:rPr>
              <a:t>Each node represents a distinct technical competency, prerequisite course, or industry career target.</a:t>
            </a:r>
          </a:p>
          <a:p>
            <a:pPr>
              <a:spcAft>
                <a:spcPts val="1000"/>
              </a:spcAft>
            </a:pPr>
            <a:r>
              <a:rPr sz="1350" b="1">
                <a:solidFill>
                  <a:srgbClr val="1F487C"/>
                </a:solidFill>
                <a:latin typeface="Arial"/>
              </a:rPr>
              <a:t>•  Directed Edge Weights (E): </a:t>
            </a:r>
            <a:r>
              <a:rPr sz="1300" b="0">
                <a:solidFill>
                  <a:srgbClr val="1A1A1A"/>
                </a:solidFill>
                <a:latin typeface="Arial"/>
              </a:rPr>
              <a:t>Directed arrows (u → v) denote prerequisite requirements. Weights reflect study hours and milestone difficulty.</a:t>
            </a:r>
          </a:p>
          <a:p>
            <a:pPr>
              <a:spcAft>
                <a:spcPts val="1000"/>
              </a:spcAft>
            </a:pPr>
            <a:r>
              <a:rPr sz="1350" b="1">
                <a:solidFill>
                  <a:srgbClr val="1F487C"/>
                </a:solidFill>
                <a:latin typeface="Arial"/>
              </a:rPr>
              <a:t>•  DAG Mathematical Property: </a:t>
            </a:r>
            <a:r>
              <a:rPr sz="1300" b="0">
                <a:solidFill>
                  <a:srgbClr val="1A1A1A"/>
                </a:solidFill>
                <a:latin typeface="Arial"/>
              </a:rPr>
              <a:t>Acyclic topology is mandatory; cycles represent unsolvable prerequisite deadlocks.</a:t>
            </a:r>
          </a:p>
          <a:p>
            <a:pPr>
              <a:spcAft>
                <a:spcPts val="1000"/>
              </a:spcAft>
            </a:pPr>
            <a:r>
              <a:rPr sz="1350" b="1">
                <a:solidFill>
                  <a:srgbClr val="1F487C"/>
                </a:solidFill>
                <a:latin typeface="Arial"/>
              </a:rPr>
              <a:t>•  Adjacency List Storage: </a:t>
            </a:r>
            <a:r>
              <a:rPr sz="1300" b="0">
                <a:solidFill>
                  <a:srgbClr val="1A1A1A"/>
                </a:solidFill>
                <a:latin typeface="Arial"/>
              </a:rPr>
              <a:t>Graph stored as an adjacency list Dict[Node, List[Edge]], optimizing memory consumption to O(V + E) for sparse structures.</a:t>
            </a:r>
          </a:p>
        </p:txBody>
      </p:sp>
      <p:sp>
        <p:nvSpPr>
          <p:cNvPr id="10" name="Rounded Rectangle 9"/>
          <p:cNvSpPr/>
          <p:nvPr/>
        </p:nvSpPr>
        <p:spPr>
          <a:xfrm>
            <a:off x="635508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Node State Lifecycle &amp; Kahn's Sort</a:t>
            </a:r>
          </a:p>
        </p:txBody>
      </p:sp>
      <p:sp>
        <p:nvSpPr>
          <p:cNvPr id="12" name="TextBox 11"/>
          <p:cNvSpPr txBox="1"/>
          <p:nvPr/>
        </p:nvSpPr>
        <p:spPr>
          <a:xfrm>
            <a:off x="649224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Mastered State (Green): </a:t>
            </a:r>
            <a:r>
              <a:rPr sz="1300" b="0">
                <a:solidFill>
                  <a:srgbClr val="1A1A1A"/>
                </a:solidFill>
                <a:latin typeface="Arial"/>
              </a:rPr>
              <a:t>Competencies already verified in the student's profile; weight set to 0 during traversal.</a:t>
            </a:r>
          </a:p>
          <a:p>
            <a:pPr>
              <a:spcAft>
                <a:spcPts val="1000"/>
              </a:spcAft>
            </a:pPr>
            <a:r>
              <a:rPr sz="1350" b="1">
                <a:solidFill>
                  <a:srgbClr val="1F487C"/>
                </a:solidFill>
                <a:latin typeface="Arial"/>
              </a:rPr>
              <a:t>•  In-Progress State (Amber): </a:t>
            </a:r>
            <a:r>
              <a:rPr sz="1300" b="0">
                <a:solidFill>
                  <a:srgbClr val="1A1A1A"/>
                </a:solidFill>
                <a:latin typeface="Arial"/>
              </a:rPr>
              <a:t>Milestones currently active; intermediate traversal step.</a:t>
            </a:r>
          </a:p>
          <a:p>
            <a:pPr>
              <a:spcAft>
                <a:spcPts val="1000"/>
              </a:spcAft>
            </a:pPr>
            <a:r>
              <a:rPr sz="1350" b="1">
                <a:solidFill>
                  <a:srgbClr val="1F487C"/>
                </a:solidFill>
                <a:latin typeface="Arial"/>
              </a:rPr>
              <a:t>•  Ready-to-Unlock State (Blue): </a:t>
            </a:r>
            <a:r>
              <a:rPr sz="1300" b="0">
                <a:solidFill>
                  <a:srgbClr val="1A1A1A"/>
                </a:solidFill>
                <a:latin typeface="Arial"/>
              </a:rPr>
              <a:t>All immediate in-degree prerequisites satisfied; ready for enrollment.</a:t>
            </a:r>
          </a:p>
          <a:p>
            <a:pPr>
              <a:spcAft>
                <a:spcPts val="1000"/>
              </a:spcAft>
            </a:pPr>
            <a:r>
              <a:rPr sz="1350" b="1">
                <a:solidFill>
                  <a:srgbClr val="1F487C"/>
                </a:solidFill>
                <a:latin typeface="Arial"/>
              </a:rPr>
              <a:t>•  Locked State (Gray): </a:t>
            </a:r>
            <a:r>
              <a:rPr sz="1300" b="0">
                <a:solidFill>
                  <a:srgbClr val="1A1A1A"/>
                </a:solidFill>
                <a:latin typeface="Arial"/>
              </a:rPr>
              <a:t>Prerequisites unmet; in-degree &gt; 0 in the remaining dependency subgraph.</a:t>
            </a:r>
          </a:p>
          <a:p>
            <a:pPr>
              <a:spcAft>
                <a:spcPts val="1000"/>
              </a:spcAft>
            </a:pPr>
            <a:r>
              <a:rPr sz="1350" b="1">
                <a:solidFill>
                  <a:srgbClr val="1F487C"/>
                </a:solidFill>
                <a:latin typeface="Arial"/>
              </a:rPr>
              <a:t>•  Kahn's Topological Ordering: </a:t>
            </a:r>
            <a:r>
              <a:rPr sz="1300" b="0">
                <a:solidFill>
                  <a:srgbClr val="1A1A1A"/>
                </a:solidFill>
                <a:latin typeface="Arial"/>
              </a:rPr>
              <a:t>Computes in-degrees for all V nodes; repeatedly removes nodes with in-degree 0 to guarantee valid learning progression in O(V + 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ALGORITHM COMPARISON &amp; SELECTION</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10</a:t>
            </a:r>
          </a:p>
        </p:txBody>
      </p:sp>
      <p:graphicFrame>
        <p:nvGraphicFramePr>
          <p:cNvPr id="7" name="Table 6"/>
          <p:cNvGraphicFramePr>
            <a:graphicFrameLocks noGrp="1"/>
          </p:cNvGraphicFramePr>
          <p:nvPr/>
        </p:nvGraphicFramePr>
        <p:xfrm>
          <a:off x="777240" y="1325880"/>
          <a:ext cx="10607040" cy="4572000"/>
        </p:xfrm>
        <a:graphic>
          <a:graphicData uri="http://schemas.openxmlformats.org/drawingml/2006/table">
            <a:tbl>
              <a:tblPr firstRow="1" bandRow="1">
                <a:tableStyleId>{5C22544A-7EE6-4342-B048-85BDC9FD1C3A}</a:tableStyleId>
              </a:tblPr>
              <a:tblGrid>
                <a:gridCol w="2286000"/>
                <a:gridCol w="2926080"/>
                <a:gridCol w="1645920"/>
                <a:gridCol w="1005840"/>
                <a:gridCol w="2743200"/>
              </a:tblGrid>
              <a:tr h="653142">
                <a:tc>
                  <a:txBody>
                    <a:bodyPr wrap="square" anchor="ctr"/>
                    <a:lstStyle/>
                    <a:p>
                      <a:pPr algn="ctr">
                        <a:defRPr sz="1300" b="1">
                          <a:solidFill>
                            <a:srgbClr val="FFFFFF"/>
                          </a:solidFill>
                          <a:latin typeface="Arial"/>
                        </a:defRPr>
                      </a:pPr>
                      <a:r>
                        <a:t>Algorithm</a:t>
                      </a:r>
                    </a:p>
                  </a:txBody>
                  <a:tcPr>
                    <a:solidFill>
                      <a:srgbClr val="1F487C"/>
                    </a:solidFill>
                  </a:tcPr>
                </a:tc>
                <a:tc>
                  <a:txBody>
                    <a:bodyPr wrap="square" anchor="ctr"/>
                    <a:lstStyle/>
                    <a:p>
                      <a:pPr algn="ctr">
                        <a:defRPr sz="1300" b="1">
                          <a:solidFill>
                            <a:srgbClr val="FFFFFF"/>
                          </a:solidFill>
                          <a:latin typeface="Arial"/>
                        </a:defRPr>
                      </a:pPr>
                      <a:r>
                        <a:t>Working Principle</a:t>
                      </a:r>
                    </a:p>
                  </a:txBody>
                  <a:tcPr>
                    <a:solidFill>
                      <a:srgbClr val="1F487C"/>
                    </a:solidFill>
                  </a:tcPr>
                </a:tc>
                <a:tc>
                  <a:txBody>
                    <a:bodyPr wrap="square" anchor="ctr"/>
                    <a:lstStyle/>
                    <a:p>
                      <a:pPr algn="ctr">
                        <a:defRPr sz="1300" b="1">
                          <a:solidFill>
                            <a:srgbClr val="FFFFFF"/>
                          </a:solidFill>
                          <a:latin typeface="Arial"/>
                        </a:defRPr>
                      </a:pPr>
                      <a:r>
                        <a:t>Time Complexity</a:t>
                      </a:r>
                    </a:p>
                  </a:txBody>
                  <a:tcPr>
                    <a:solidFill>
                      <a:srgbClr val="1F487C"/>
                    </a:solidFill>
                  </a:tcPr>
                </a:tc>
                <a:tc>
                  <a:txBody>
                    <a:bodyPr wrap="square" anchor="ctr"/>
                    <a:lstStyle/>
                    <a:p>
                      <a:pPr algn="ctr">
                        <a:defRPr sz="1300" b="1">
                          <a:solidFill>
                            <a:srgbClr val="FFFFFF"/>
                          </a:solidFill>
                          <a:latin typeface="Arial"/>
                        </a:defRPr>
                      </a:pPr>
                      <a:r>
                        <a:t>Space</a:t>
                      </a:r>
                    </a:p>
                  </a:txBody>
                  <a:tcPr>
                    <a:solidFill>
                      <a:srgbClr val="1F487C"/>
                    </a:solidFill>
                  </a:tcPr>
                </a:tc>
                <a:tc>
                  <a:txBody>
                    <a:bodyPr wrap="square" anchor="ctr"/>
                    <a:lstStyle/>
                    <a:p>
                      <a:pPr algn="ctr">
                        <a:defRPr sz="1300" b="1">
                          <a:solidFill>
                            <a:srgbClr val="FFFFFF"/>
                          </a:solidFill>
                          <a:latin typeface="Arial"/>
                        </a:defRPr>
                      </a:pPr>
                      <a:r>
                        <a:t>Role in Career Platform</a:t>
                      </a:r>
                    </a:p>
                  </a:txBody>
                  <a:tcPr>
                    <a:solidFill>
                      <a:srgbClr val="1F487C"/>
                    </a:solidFill>
                  </a:tcPr>
                </a:tc>
              </a:tr>
              <a:tr h="653142">
                <a:tc>
                  <a:txBody>
                    <a:bodyPr wrap="square" anchor="ctr"/>
                    <a:lstStyle/>
                    <a:p>
                      <a:pPr algn="l">
                        <a:defRPr sz="1100" b="1">
                          <a:solidFill>
                            <a:srgbClr val="1F487C"/>
                          </a:solidFill>
                          <a:latin typeface="Arial"/>
                        </a:defRPr>
                      </a:pPr>
                      <a:r>
                        <a:t>Dijkstra's Algorithm</a:t>
                      </a:r>
                    </a:p>
                  </a:txBody>
                  <a:tcPr>
                    <a:solidFill>
                      <a:srgbClr val="FFFFFF"/>
                    </a:solidFill>
                  </a:tcPr>
                </a:tc>
                <a:tc>
                  <a:txBody>
                    <a:bodyPr wrap="square" anchor="ctr"/>
                    <a:lstStyle/>
                    <a:p>
                      <a:pPr algn="l">
                        <a:defRPr sz="1100">
                          <a:solidFill>
                            <a:srgbClr val="1A1A1A"/>
                          </a:solidFill>
                          <a:latin typeface="Arial"/>
                        </a:defRPr>
                      </a:pPr>
                      <a:r>
                        <a:t>Greedy edge relaxation with Min-Heap</a:t>
                      </a:r>
                    </a:p>
                  </a:txBody>
                  <a:tcPr>
                    <a:solidFill>
                      <a:srgbClr val="FFFFFF"/>
                    </a:solidFill>
                  </a:tcPr>
                </a:tc>
                <a:tc>
                  <a:txBody>
                    <a:bodyPr wrap="square" anchor="ctr"/>
                    <a:lstStyle/>
                    <a:p>
                      <a:pPr algn="ctr">
                        <a:defRPr sz="1100" b="1">
                          <a:solidFill>
                            <a:srgbClr val="006FC0"/>
                          </a:solidFill>
                          <a:latin typeface="Arial"/>
                        </a:defRPr>
                      </a:pPr>
                      <a:r>
                        <a:t>O((V + E) log V)</a:t>
                      </a:r>
                    </a:p>
                  </a:txBody>
                  <a:tcPr>
                    <a:solidFill>
                      <a:srgbClr val="FFFFFF"/>
                    </a:solidFill>
                  </a:tcPr>
                </a:tc>
                <a:tc>
                  <a:txBody>
                    <a:bodyPr wrap="square" anchor="ctr"/>
                    <a:lstStyle/>
                    <a:p>
                      <a:pPr algn="l">
                        <a:defRPr sz="1100">
                          <a:solidFill>
                            <a:srgbClr val="1A1A1A"/>
                          </a:solidFill>
                          <a:latin typeface="Arial"/>
                        </a:defRPr>
                      </a:pPr>
                      <a:r>
                        <a:t>O(V)</a:t>
                      </a:r>
                    </a:p>
                  </a:txBody>
                  <a:tcPr>
                    <a:solidFill>
                      <a:srgbClr val="FFFFFF"/>
                    </a:solidFill>
                  </a:tcPr>
                </a:tc>
                <a:tc>
                  <a:txBody>
                    <a:bodyPr wrap="square" anchor="ctr"/>
                    <a:lstStyle/>
                    <a:p>
                      <a:pPr algn="l">
                        <a:defRPr sz="1100">
                          <a:solidFill>
                            <a:srgbClr val="1A1A1A"/>
                          </a:solidFill>
                          <a:latin typeface="Arial"/>
                        </a:defRPr>
                      </a:pPr>
                      <a:r>
                        <a:t>Computes lowest-effort weighted learning path</a:t>
                      </a:r>
                    </a:p>
                  </a:txBody>
                  <a:tcPr>
                    <a:solidFill>
                      <a:srgbClr val="FFFFFF"/>
                    </a:solidFill>
                  </a:tcPr>
                </a:tc>
              </a:tr>
              <a:tr h="653142">
                <a:tc>
                  <a:txBody>
                    <a:bodyPr wrap="square" anchor="ctr"/>
                    <a:lstStyle/>
                    <a:p>
                      <a:pPr algn="l">
                        <a:defRPr sz="1100" b="1">
                          <a:solidFill>
                            <a:srgbClr val="1F487C"/>
                          </a:solidFill>
                          <a:latin typeface="Arial"/>
                        </a:defRPr>
                      </a:pPr>
                      <a:r>
                        <a:t>Breadth-First Search (BFS)</a:t>
                      </a:r>
                    </a:p>
                  </a:txBody>
                  <a:tcPr>
                    <a:solidFill>
                      <a:srgbClr val="F1F5FA"/>
                    </a:solidFill>
                  </a:tcPr>
                </a:tc>
                <a:tc>
                  <a:txBody>
                    <a:bodyPr wrap="square" anchor="ctr"/>
                    <a:lstStyle/>
                    <a:p>
                      <a:pPr algn="l">
                        <a:defRPr sz="1100">
                          <a:solidFill>
                            <a:srgbClr val="1A1A1A"/>
                          </a:solidFill>
                          <a:latin typeface="Arial"/>
                        </a:defRPr>
                      </a:pPr>
                      <a:r>
                        <a:t>Queue-based level-order traversal</a:t>
                      </a:r>
                    </a:p>
                  </a:txBody>
                  <a:tcPr>
                    <a:solidFill>
                      <a:srgbClr val="F1F5FA"/>
                    </a:solidFill>
                  </a:tcPr>
                </a:tc>
                <a:tc>
                  <a:txBody>
                    <a:bodyPr wrap="square" anchor="ctr"/>
                    <a:lstStyle/>
                    <a:p>
                      <a:pPr algn="ctr">
                        <a:defRPr sz="1100" b="1">
                          <a:solidFill>
                            <a:srgbClr val="006FC0"/>
                          </a:solidFill>
                          <a:latin typeface="Arial"/>
                        </a:defRPr>
                      </a:pPr>
                      <a:r>
                        <a:t>O(V + E)</a:t>
                      </a:r>
                    </a:p>
                  </a:txBody>
                  <a:tcPr>
                    <a:solidFill>
                      <a:srgbClr val="F1F5FA"/>
                    </a:solidFill>
                  </a:tcPr>
                </a:tc>
                <a:tc>
                  <a:txBody>
                    <a:bodyPr wrap="square" anchor="ctr"/>
                    <a:lstStyle/>
                    <a:p>
                      <a:pPr algn="l">
                        <a:defRPr sz="1100">
                          <a:solidFill>
                            <a:srgbClr val="1A1A1A"/>
                          </a:solidFill>
                          <a:latin typeface="Arial"/>
                        </a:defRPr>
                      </a:pPr>
                      <a:r>
                        <a:t>O(V)</a:t>
                      </a:r>
                    </a:p>
                  </a:txBody>
                  <a:tcPr>
                    <a:solidFill>
                      <a:srgbClr val="F1F5FA"/>
                    </a:solidFill>
                  </a:tcPr>
                </a:tc>
                <a:tc>
                  <a:txBody>
                    <a:bodyPr wrap="square" anchor="ctr"/>
                    <a:lstStyle/>
                    <a:p>
                      <a:pPr algn="l">
                        <a:defRPr sz="1100">
                          <a:solidFill>
                            <a:srgbClr val="1A1A1A"/>
                          </a:solidFill>
                          <a:latin typeface="Arial"/>
                        </a:defRPr>
                      </a:pPr>
                      <a:r>
                        <a:t>Finds path with fewest milestone count</a:t>
                      </a:r>
                    </a:p>
                  </a:txBody>
                  <a:tcPr>
                    <a:solidFill>
                      <a:srgbClr val="F1F5FA"/>
                    </a:solidFill>
                  </a:tcPr>
                </a:tc>
              </a:tr>
              <a:tr h="653142">
                <a:tc>
                  <a:txBody>
                    <a:bodyPr wrap="square" anchor="ctr"/>
                    <a:lstStyle/>
                    <a:p>
                      <a:pPr algn="l">
                        <a:defRPr sz="1100" b="1">
                          <a:solidFill>
                            <a:srgbClr val="1F487C"/>
                          </a:solidFill>
                          <a:latin typeface="Arial"/>
                        </a:defRPr>
                      </a:pPr>
                      <a:r>
                        <a:t>Topological Sort (Kahn's)</a:t>
                      </a:r>
                    </a:p>
                  </a:txBody>
                  <a:tcPr>
                    <a:solidFill>
                      <a:srgbClr val="FFFFFF"/>
                    </a:solidFill>
                  </a:tcPr>
                </a:tc>
                <a:tc>
                  <a:txBody>
                    <a:bodyPr wrap="square" anchor="ctr"/>
                    <a:lstStyle/>
                    <a:p>
                      <a:pPr algn="l">
                        <a:defRPr sz="1100">
                          <a:solidFill>
                            <a:srgbClr val="1A1A1A"/>
                          </a:solidFill>
                          <a:latin typeface="Arial"/>
                        </a:defRPr>
                      </a:pPr>
                      <a:r>
                        <a:t>In-degree dependency elimination</a:t>
                      </a:r>
                    </a:p>
                  </a:txBody>
                  <a:tcPr>
                    <a:solidFill>
                      <a:srgbClr val="FFFFFF"/>
                    </a:solidFill>
                  </a:tcPr>
                </a:tc>
                <a:tc>
                  <a:txBody>
                    <a:bodyPr wrap="square" anchor="ctr"/>
                    <a:lstStyle/>
                    <a:p>
                      <a:pPr algn="ctr">
                        <a:defRPr sz="1100" b="1">
                          <a:solidFill>
                            <a:srgbClr val="006FC0"/>
                          </a:solidFill>
                          <a:latin typeface="Arial"/>
                        </a:defRPr>
                      </a:pPr>
                      <a:r>
                        <a:t>O(V + E)</a:t>
                      </a:r>
                    </a:p>
                  </a:txBody>
                  <a:tcPr>
                    <a:solidFill>
                      <a:srgbClr val="FFFFFF"/>
                    </a:solidFill>
                  </a:tcPr>
                </a:tc>
                <a:tc>
                  <a:txBody>
                    <a:bodyPr wrap="square" anchor="ctr"/>
                    <a:lstStyle/>
                    <a:p>
                      <a:pPr algn="l">
                        <a:defRPr sz="1100">
                          <a:solidFill>
                            <a:srgbClr val="1A1A1A"/>
                          </a:solidFill>
                          <a:latin typeface="Arial"/>
                        </a:defRPr>
                      </a:pPr>
                      <a:r>
                        <a:t>O(V)</a:t>
                      </a:r>
                    </a:p>
                  </a:txBody>
                  <a:tcPr>
                    <a:solidFill>
                      <a:srgbClr val="FFFFFF"/>
                    </a:solidFill>
                  </a:tcPr>
                </a:tc>
                <a:tc>
                  <a:txBody>
                    <a:bodyPr wrap="square" anchor="ctr"/>
                    <a:lstStyle/>
                    <a:p>
                      <a:pPr algn="l">
                        <a:defRPr sz="1100">
                          <a:solidFill>
                            <a:srgbClr val="1A1A1A"/>
                          </a:solidFill>
                          <a:latin typeface="Arial"/>
                        </a:defRPr>
                      </a:pPr>
                      <a:r>
                        <a:t>Ensures cycle-free, valid sequence</a:t>
                      </a:r>
                    </a:p>
                  </a:txBody>
                  <a:tcPr>
                    <a:solidFill>
                      <a:srgbClr val="FFFFFF"/>
                    </a:solidFill>
                  </a:tcPr>
                </a:tc>
              </a:tr>
              <a:tr h="653142">
                <a:tc>
                  <a:txBody>
                    <a:bodyPr wrap="square" anchor="ctr"/>
                    <a:lstStyle/>
                    <a:p>
                      <a:pPr algn="l">
                        <a:defRPr sz="1100" b="1">
                          <a:solidFill>
                            <a:srgbClr val="1F487C"/>
                          </a:solidFill>
                          <a:latin typeface="Arial"/>
                        </a:defRPr>
                      </a:pPr>
                      <a:r>
                        <a:t>A* Search Algorithm</a:t>
                      </a:r>
                    </a:p>
                  </a:txBody>
                  <a:tcPr>
                    <a:solidFill>
                      <a:srgbClr val="F1F5FA"/>
                    </a:solidFill>
                  </a:tcPr>
                </a:tc>
                <a:tc>
                  <a:txBody>
                    <a:bodyPr wrap="square" anchor="ctr"/>
                    <a:lstStyle/>
                    <a:p>
                      <a:pPr algn="l">
                        <a:defRPr sz="1100">
                          <a:solidFill>
                            <a:srgbClr val="1A1A1A"/>
                          </a:solidFill>
                          <a:latin typeface="Arial"/>
                        </a:defRPr>
                      </a:pPr>
                      <a:r>
                        <a:t>Heuristic-driven priority traversal</a:t>
                      </a:r>
                    </a:p>
                  </a:txBody>
                  <a:tcPr>
                    <a:solidFill>
                      <a:srgbClr val="F1F5FA"/>
                    </a:solidFill>
                  </a:tcPr>
                </a:tc>
                <a:tc>
                  <a:txBody>
                    <a:bodyPr wrap="square" anchor="ctr"/>
                    <a:lstStyle/>
                    <a:p>
                      <a:pPr algn="ctr">
                        <a:defRPr sz="1100" b="1">
                          <a:solidFill>
                            <a:srgbClr val="006FC0"/>
                          </a:solidFill>
                          <a:latin typeface="Arial"/>
                        </a:defRPr>
                      </a:pPr>
                      <a:r>
                        <a:t>O(E) average</a:t>
                      </a:r>
                    </a:p>
                  </a:txBody>
                  <a:tcPr>
                    <a:solidFill>
                      <a:srgbClr val="F1F5FA"/>
                    </a:solidFill>
                  </a:tcPr>
                </a:tc>
                <a:tc>
                  <a:txBody>
                    <a:bodyPr wrap="square" anchor="ctr"/>
                    <a:lstStyle/>
                    <a:p>
                      <a:pPr algn="l">
                        <a:defRPr sz="1100">
                          <a:solidFill>
                            <a:srgbClr val="1A1A1A"/>
                          </a:solidFill>
                          <a:latin typeface="Arial"/>
                        </a:defRPr>
                      </a:pPr>
                      <a:r>
                        <a:t>O(V)</a:t>
                      </a:r>
                    </a:p>
                  </a:txBody>
                  <a:tcPr>
                    <a:solidFill>
                      <a:srgbClr val="F1F5FA"/>
                    </a:solidFill>
                  </a:tcPr>
                </a:tc>
                <a:tc>
                  <a:txBody>
                    <a:bodyPr wrap="square" anchor="ctr"/>
                    <a:lstStyle/>
                    <a:p>
                      <a:pPr algn="l">
                        <a:defRPr sz="1100">
                          <a:solidFill>
                            <a:srgbClr val="1A1A1A"/>
                          </a:solidFill>
                          <a:latin typeface="Arial"/>
                        </a:defRPr>
                      </a:pPr>
                      <a:r>
                        <a:t>Fast goal-directed career roadmap search</a:t>
                      </a:r>
                    </a:p>
                  </a:txBody>
                  <a:tcPr>
                    <a:solidFill>
                      <a:srgbClr val="F1F5FA"/>
                    </a:solidFill>
                  </a:tcPr>
                </a:tc>
              </a:tr>
              <a:tr h="653142">
                <a:tc>
                  <a:txBody>
                    <a:bodyPr wrap="square" anchor="ctr"/>
                    <a:lstStyle/>
                    <a:p>
                      <a:pPr algn="l">
                        <a:defRPr sz="1100" b="1">
                          <a:solidFill>
                            <a:srgbClr val="1F487C"/>
                          </a:solidFill>
                          <a:latin typeface="Arial"/>
                        </a:defRPr>
                      </a:pPr>
                      <a:r>
                        <a:t>Depth-First Search (DFS)</a:t>
                      </a:r>
                    </a:p>
                  </a:txBody>
                  <a:tcPr>
                    <a:solidFill>
                      <a:srgbClr val="FFFFFF"/>
                    </a:solidFill>
                  </a:tcPr>
                </a:tc>
                <a:tc>
                  <a:txBody>
                    <a:bodyPr wrap="square" anchor="ctr"/>
                    <a:lstStyle/>
                    <a:p>
                      <a:pPr algn="l">
                        <a:defRPr sz="1100">
                          <a:solidFill>
                            <a:srgbClr val="1A1A1A"/>
                          </a:solidFill>
                          <a:latin typeface="Arial"/>
                        </a:defRPr>
                      </a:pPr>
                      <a:r>
                        <a:t>Recursive backtracking stack traversal</a:t>
                      </a:r>
                    </a:p>
                  </a:txBody>
                  <a:tcPr>
                    <a:solidFill>
                      <a:srgbClr val="FFFFFF"/>
                    </a:solidFill>
                  </a:tcPr>
                </a:tc>
                <a:tc>
                  <a:txBody>
                    <a:bodyPr wrap="square" anchor="ctr"/>
                    <a:lstStyle/>
                    <a:p>
                      <a:pPr algn="ctr">
                        <a:defRPr sz="1100" b="1">
                          <a:solidFill>
                            <a:srgbClr val="006FC0"/>
                          </a:solidFill>
                          <a:latin typeface="Arial"/>
                        </a:defRPr>
                      </a:pPr>
                      <a:r>
                        <a:t>O(V + E)</a:t>
                      </a:r>
                    </a:p>
                  </a:txBody>
                  <a:tcPr>
                    <a:solidFill>
                      <a:srgbClr val="FFFFFF"/>
                    </a:solidFill>
                  </a:tcPr>
                </a:tc>
                <a:tc>
                  <a:txBody>
                    <a:bodyPr wrap="square" anchor="ctr"/>
                    <a:lstStyle/>
                    <a:p>
                      <a:pPr algn="l">
                        <a:defRPr sz="1100">
                          <a:solidFill>
                            <a:srgbClr val="1A1A1A"/>
                          </a:solidFill>
                          <a:latin typeface="Arial"/>
                        </a:defRPr>
                      </a:pPr>
                      <a:r>
                        <a:t>O(V)</a:t>
                      </a:r>
                    </a:p>
                  </a:txBody>
                  <a:tcPr>
                    <a:solidFill>
                      <a:srgbClr val="FFFFFF"/>
                    </a:solidFill>
                  </a:tcPr>
                </a:tc>
                <a:tc>
                  <a:txBody>
                    <a:bodyPr wrap="square" anchor="ctr"/>
                    <a:lstStyle/>
                    <a:p>
                      <a:pPr algn="l">
                        <a:defRPr sz="1100">
                          <a:solidFill>
                            <a:srgbClr val="1A1A1A"/>
                          </a:solidFill>
                          <a:latin typeface="Arial"/>
                        </a:defRPr>
                      </a:pPr>
                      <a:r>
                        <a:t>Validates prerequisite subtree depth</a:t>
                      </a:r>
                    </a:p>
                  </a:txBody>
                  <a:tcPr>
                    <a:solidFill>
                      <a:srgbClr val="FFFFFF"/>
                    </a:solidFill>
                  </a:tcPr>
                </a:tc>
              </a:tr>
              <a:tr h="653148">
                <a:tc>
                  <a:txBody>
                    <a:bodyPr wrap="square" anchor="ctr"/>
                    <a:lstStyle/>
                    <a:p>
                      <a:pPr algn="l">
                        <a:defRPr sz="1100" b="1">
                          <a:solidFill>
                            <a:srgbClr val="1F487C"/>
                          </a:solidFill>
                          <a:latin typeface="Arial"/>
                        </a:defRPr>
                      </a:pPr>
                      <a:r>
                        <a:t>Bellman-Ford Algorithm</a:t>
                      </a:r>
                    </a:p>
                  </a:txBody>
                  <a:tcPr>
                    <a:solidFill>
                      <a:srgbClr val="F1F5FA"/>
                    </a:solidFill>
                  </a:tcPr>
                </a:tc>
                <a:tc>
                  <a:txBody>
                    <a:bodyPr wrap="square" anchor="ctr"/>
                    <a:lstStyle/>
                    <a:p>
                      <a:pPr algn="l">
                        <a:defRPr sz="1100">
                          <a:solidFill>
                            <a:srgbClr val="1A1A1A"/>
                          </a:solidFill>
                          <a:latin typeface="Arial"/>
                        </a:defRPr>
                      </a:pPr>
                      <a:r>
                        <a:t>Dynamic edge relaxation (V-1 cycles)</a:t>
                      </a:r>
                    </a:p>
                  </a:txBody>
                  <a:tcPr>
                    <a:solidFill>
                      <a:srgbClr val="F1F5FA"/>
                    </a:solidFill>
                  </a:tcPr>
                </a:tc>
                <a:tc>
                  <a:txBody>
                    <a:bodyPr wrap="square" anchor="ctr"/>
                    <a:lstStyle/>
                    <a:p>
                      <a:pPr algn="ctr">
                        <a:defRPr sz="1100" b="1">
                          <a:solidFill>
                            <a:srgbClr val="006FC0"/>
                          </a:solidFill>
                          <a:latin typeface="Arial"/>
                        </a:defRPr>
                      </a:pPr>
                      <a:r>
                        <a:t>O(V · E)</a:t>
                      </a:r>
                    </a:p>
                  </a:txBody>
                  <a:tcPr>
                    <a:solidFill>
                      <a:srgbClr val="F1F5FA"/>
                    </a:solidFill>
                  </a:tcPr>
                </a:tc>
                <a:tc>
                  <a:txBody>
                    <a:bodyPr wrap="square" anchor="ctr"/>
                    <a:lstStyle/>
                    <a:p>
                      <a:pPr algn="l">
                        <a:defRPr sz="1100">
                          <a:solidFill>
                            <a:srgbClr val="1A1A1A"/>
                          </a:solidFill>
                          <a:latin typeface="Arial"/>
                        </a:defRPr>
                      </a:pPr>
                      <a:r>
                        <a:t>O(V)</a:t>
                      </a:r>
                    </a:p>
                  </a:txBody>
                  <a:tcPr>
                    <a:solidFill>
                      <a:srgbClr val="F1F5FA"/>
                    </a:solidFill>
                  </a:tcPr>
                </a:tc>
                <a:tc>
                  <a:txBody>
                    <a:bodyPr wrap="square" anchor="ctr"/>
                    <a:lstStyle/>
                    <a:p>
                      <a:pPr algn="l">
                        <a:defRPr sz="1100">
                          <a:solidFill>
                            <a:srgbClr val="1A1A1A"/>
                          </a:solidFill>
                          <a:latin typeface="Arial"/>
                        </a:defRPr>
                      </a:pPr>
                      <a:r>
                        <a:t>Verifies graph integrity &amp; avoids negative traps</a:t>
                      </a:r>
                    </a:p>
                  </a:txBody>
                  <a:tcPr>
                    <a:solidFill>
                      <a:srgbClr val="F1F5FA"/>
                    </a:solidFill>
                  </a:tcPr>
                </a:tc>
              </a:tr>
            </a:tbl>
          </a:graphicData>
        </a:graphic>
      </p:graphicFrame>
      <p:sp>
        <p:nvSpPr>
          <p:cNvPr id="8" name="TextBox 7"/>
          <p:cNvSpPr txBox="1"/>
          <p:nvPr/>
        </p:nvSpPr>
        <p:spPr>
          <a:xfrm>
            <a:off x="777240" y="5989320"/>
            <a:ext cx="10607040" cy="320040"/>
          </a:xfrm>
          <a:prstGeom prst="rect">
            <a:avLst/>
          </a:prstGeom>
          <a:noFill/>
        </p:spPr>
        <p:txBody>
          <a:bodyPr wrap="none">
            <a:spAutoFit/>
          </a:bodyPr>
          <a:lstStyle/>
          <a:p>
            <a:pPr algn="ctr">
              <a:defRPr sz="1100" i="1">
                <a:solidFill>
                  <a:srgbClr val="64748B"/>
                </a:solidFill>
                <a:latin typeface="Arial"/>
              </a:defRPr>
            </a:pPr>
            <a:r>
              <a:t>Dijkstra and Kahn's algorithms form the primary production engine; BFS and A* serve secondary exploration modes.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METRICS AND COMPLEXITY ANALYSIS</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11</a:t>
            </a:r>
          </a:p>
        </p:txBody>
      </p:sp>
      <p:sp>
        <p:nvSpPr>
          <p:cNvPr id="7" name="Rounded Rectangle 6"/>
          <p:cNvSpPr/>
          <p:nvPr/>
        </p:nvSpPr>
        <p:spPr>
          <a:xfrm>
            <a:off x="54864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Mathematical Formulas &amp; Bounds</a:t>
            </a:r>
          </a:p>
        </p:txBody>
      </p:sp>
      <p:sp>
        <p:nvSpPr>
          <p:cNvPr id="9" name="TextBox 8"/>
          <p:cNvSpPr txBox="1"/>
          <p:nvPr/>
        </p:nvSpPr>
        <p:spPr>
          <a:xfrm>
            <a:off x="68580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Path Learning Effort: </a:t>
            </a:r>
            <a:r>
              <a:rPr sz="1300" b="0">
                <a:solidFill>
                  <a:srgbClr val="1A1A1A"/>
                </a:solidFill>
                <a:latin typeface="Arial"/>
              </a:rPr>
              <a:t>Effort(P) = ∑ Weight(u, v) for all (u, v) ∈ Path; reflects cumulative study weeks.</a:t>
            </a:r>
          </a:p>
          <a:p>
            <a:pPr>
              <a:spcAft>
                <a:spcPts val="1000"/>
              </a:spcAft>
            </a:pPr>
            <a:r>
              <a:rPr sz="1350" b="1">
                <a:solidFill>
                  <a:srgbClr val="1F487C"/>
                </a:solidFill>
                <a:latin typeface="Arial"/>
              </a:rPr>
              <a:t>•  Skill Readiness Index (SRI): </a:t>
            </a:r>
            <a:r>
              <a:rPr sz="1300" b="0">
                <a:solidFill>
                  <a:srgbClr val="1A1A1A"/>
                </a:solidFill>
                <a:latin typeface="Arial"/>
              </a:rPr>
              <a:t>SRI = (|Profile ∩ TargetRequirements| / |TargetRequirements|) × 100%.</a:t>
            </a:r>
          </a:p>
          <a:p>
            <a:pPr>
              <a:spcAft>
                <a:spcPts val="1000"/>
              </a:spcAft>
            </a:pPr>
            <a:r>
              <a:rPr sz="1350" b="1">
                <a:solidFill>
                  <a:srgbClr val="1F487C"/>
                </a:solidFill>
                <a:latin typeface="Arial"/>
              </a:rPr>
              <a:t>•  Pathway Efficiency Ratio: </a:t>
            </a:r>
            <a:r>
              <a:rPr sz="1300" b="0">
                <a:solidFill>
                  <a:srgbClr val="1A1A1A"/>
                </a:solidFill>
                <a:latin typeface="Arial"/>
              </a:rPr>
              <a:t>η = Effort(Dijkstra Path) / Effort(Unoptimized Path); benchmarks time savings.</a:t>
            </a:r>
          </a:p>
          <a:p>
            <a:pPr>
              <a:spcAft>
                <a:spcPts val="1000"/>
              </a:spcAft>
            </a:pPr>
            <a:r>
              <a:rPr sz="1350" b="1">
                <a:solidFill>
                  <a:srgbClr val="1F487C"/>
                </a:solidFill>
                <a:latin typeface="Arial"/>
              </a:rPr>
              <a:t>•  Trie Query Latency: </a:t>
            </a:r>
            <a:r>
              <a:rPr sz="1300" b="0">
                <a:solidFill>
                  <a:srgbClr val="1A1A1A"/>
                </a:solidFill>
                <a:latin typeface="Arial"/>
              </a:rPr>
              <a:t>T_query = O(L), strictly dependent on keyword length L, independent of total database entries N.</a:t>
            </a:r>
          </a:p>
          <a:p>
            <a:pPr>
              <a:spcAft>
                <a:spcPts val="1000"/>
              </a:spcAft>
            </a:pPr>
            <a:r>
              <a:rPr sz="1350" b="1">
                <a:solidFill>
                  <a:srgbClr val="1F487C"/>
                </a:solidFill>
                <a:latin typeface="Arial"/>
              </a:rPr>
              <a:t>•  Heap Operation Bound: </a:t>
            </a:r>
            <a:r>
              <a:rPr sz="1300" b="0">
                <a:solidFill>
                  <a:srgbClr val="1A1A1A"/>
                </a:solidFill>
                <a:latin typeface="Arial"/>
              </a:rPr>
              <a:t>T_heap = O(log K) for insertions and extractions, where K is total missing skills.</a:t>
            </a:r>
          </a:p>
        </p:txBody>
      </p:sp>
      <p:sp>
        <p:nvSpPr>
          <p:cNvPr id="10" name="Rounded Rectangle 9"/>
          <p:cNvSpPr/>
          <p:nvPr/>
        </p:nvSpPr>
        <p:spPr>
          <a:xfrm>
            <a:off x="635508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Algorithmic Runtime Trace</a:t>
            </a:r>
          </a:p>
        </p:txBody>
      </p:sp>
      <p:sp>
        <p:nvSpPr>
          <p:cNvPr id="12" name="TextBox 11"/>
          <p:cNvSpPr txBox="1"/>
          <p:nvPr/>
        </p:nvSpPr>
        <p:spPr>
          <a:xfrm>
            <a:off x="649224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Profile Ingestion (Hash Set): </a:t>
            </a:r>
            <a:r>
              <a:rPr sz="1300" b="0">
                <a:solidFill>
                  <a:srgbClr val="1A1A1A"/>
                </a:solidFill>
                <a:latin typeface="Arial"/>
              </a:rPr>
              <a:t>O(S) insertion time where S = number of user skills. Memory: O(S).</a:t>
            </a:r>
          </a:p>
          <a:p>
            <a:pPr>
              <a:spcAft>
                <a:spcPts val="1000"/>
              </a:spcAft>
            </a:pPr>
            <a:r>
              <a:rPr sz="1350" b="1">
                <a:solidFill>
                  <a:srgbClr val="1F487C"/>
                </a:solidFill>
                <a:latin typeface="Arial"/>
              </a:rPr>
              <a:t>•  Autocomplete Traversal (Trie): </a:t>
            </a:r>
            <a:r>
              <a:rPr sz="1300" b="0">
                <a:solidFill>
                  <a:srgbClr val="1A1A1A"/>
                </a:solidFill>
                <a:latin typeface="Arial"/>
              </a:rPr>
              <a:t>O(L) string search time. 26-way multi-child branch array per node.</a:t>
            </a:r>
          </a:p>
          <a:p>
            <a:pPr>
              <a:spcAft>
                <a:spcPts val="1000"/>
              </a:spcAft>
            </a:pPr>
            <a:r>
              <a:rPr sz="1350" b="1">
                <a:solidFill>
                  <a:srgbClr val="1F487C"/>
                </a:solidFill>
                <a:latin typeface="Arial"/>
              </a:rPr>
              <a:t>•  Graph Prerequisite Check: </a:t>
            </a:r>
            <a:r>
              <a:rPr sz="1300" b="0">
                <a:solidFill>
                  <a:srgbClr val="1A1A1A"/>
                </a:solidFill>
                <a:latin typeface="Arial"/>
              </a:rPr>
              <a:t>O(V + E) Kahn's algorithm execution time. Memory: O(V + E) adjacency storage.</a:t>
            </a:r>
          </a:p>
          <a:p>
            <a:pPr>
              <a:spcAft>
                <a:spcPts val="1000"/>
              </a:spcAft>
            </a:pPr>
            <a:r>
              <a:rPr sz="1350" b="1">
                <a:solidFill>
                  <a:srgbClr val="1F487C"/>
                </a:solidFill>
                <a:latin typeface="Arial"/>
              </a:rPr>
              <a:t>•  Deficit Prioritization (Max-Heap): </a:t>
            </a:r>
            <a:r>
              <a:rPr sz="1300" b="0">
                <a:solidFill>
                  <a:srgbClr val="1A1A1A"/>
                </a:solidFill>
                <a:latin typeface="Arial"/>
              </a:rPr>
              <a:t>O(K log K) build heap and full extraction time for K deficit skills.</a:t>
            </a:r>
          </a:p>
          <a:p>
            <a:pPr>
              <a:spcAft>
                <a:spcPts val="1000"/>
              </a:spcAft>
            </a:pPr>
            <a:r>
              <a:rPr sz="1350" b="1">
                <a:solidFill>
                  <a:srgbClr val="1F487C"/>
                </a:solidFill>
                <a:latin typeface="Arial"/>
              </a:rPr>
              <a:t>•  Optimal Route Traversal: </a:t>
            </a:r>
            <a:r>
              <a:rPr sz="1300" b="0">
                <a:solidFill>
                  <a:srgbClr val="1A1A1A"/>
                </a:solidFill>
                <a:latin typeface="Arial"/>
              </a:rPr>
              <a:t>O((V + E) log V) with Fibonacci/Binary Min-Heap. Sub-5ms execution for 500-node trees.</a:t>
            </a:r>
          </a:p>
          <a:p>
            <a:pPr>
              <a:spcAft>
                <a:spcPts val="1000"/>
              </a:spcAft>
            </a:pPr>
            <a:r>
              <a:rPr sz="1350" b="1">
                <a:solidFill>
                  <a:srgbClr val="1F487C"/>
                </a:solidFill>
                <a:latin typeface="Arial"/>
              </a:rPr>
              <a:t>•  Overall End-to-End Latency: </a:t>
            </a:r>
            <a:r>
              <a:rPr sz="1300" b="0">
                <a:solidFill>
                  <a:srgbClr val="1A1A1A"/>
                </a:solidFill>
                <a:latin typeface="Arial"/>
              </a:rPr>
              <a:t>Consistently under 10ms across 1,000 simulated student profiles.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TRIE (PREFIX TREE) SKILL SEARCH</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12</a:t>
            </a:r>
          </a:p>
        </p:txBody>
      </p:sp>
      <p:sp>
        <p:nvSpPr>
          <p:cNvPr id="7" name="Rounded Rectangle 6"/>
          <p:cNvSpPr/>
          <p:nvPr/>
        </p:nvSpPr>
        <p:spPr>
          <a:xfrm>
            <a:off x="54864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Trie Structure &amp; Traversal</a:t>
            </a:r>
          </a:p>
        </p:txBody>
      </p:sp>
      <p:sp>
        <p:nvSpPr>
          <p:cNvPr id="9" name="TextBox 8"/>
          <p:cNvSpPr txBox="1"/>
          <p:nvPr/>
        </p:nvSpPr>
        <p:spPr>
          <a:xfrm>
            <a:off x="68580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Trie Architecture: </a:t>
            </a:r>
            <a:r>
              <a:rPr sz="1300" b="0">
                <a:solidFill>
                  <a:srgbClr val="1A1A1A"/>
                </a:solidFill>
                <a:latin typeface="Arial"/>
              </a:rPr>
              <a:t>Multi-way rooted tree where each node represents a character; branches span the 26-letter alphabet and symbols.</a:t>
            </a:r>
          </a:p>
          <a:p>
            <a:pPr>
              <a:spcAft>
                <a:spcPts val="1000"/>
              </a:spcAft>
            </a:pPr>
            <a:r>
              <a:rPr sz="1350" b="1">
                <a:solidFill>
                  <a:srgbClr val="1F487C"/>
                </a:solidFill>
                <a:latin typeface="Arial"/>
              </a:rPr>
              <a:t>•  Sub-Millisecond Search: </a:t>
            </a:r>
            <a:r>
              <a:rPr sz="1300" b="0">
                <a:solidFill>
                  <a:srgbClr val="1A1A1A"/>
                </a:solidFill>
                <a:latin typeface="Arial"/>
              </a:rPr>
              <a:t>Key lookup executes in O(L) time where L is the length of the query prefix, completely immune to database scaling.</a:t>
            </a:r>
          </a:p>
          <a:p>
            <a:pPr>
              <a:spcAft>
                <a:spcPts val="1000"/>
              </a:spcAft>
            </a:pPr>
            <a:r>
              <a:rPr sz="1350" b="1">
                <a:solidFill>
                  <a:srgbClr val="1F487C"/>
                </a:solidFill>
                <a:latin typeface="Arial"/>
              </a:rPr>
              <a:t>•  Prefix Clustering: </a:t>
            </a:r>
            <a:r>
              <a:rPr sz="1300" b="0">
                <a:solidFill>
                  <a:srgbClr val="1A1A1A"/>
                </a:solidFill>
                <a:latin typeface="Arial"/>
              </a:rPr>
              <a:t>Shared prefixes (e.g., 'data-', 'python-', 'cloud-') share tree branches, optimizing memory footprint.</a:t>
            </a:r>
          </a:p>
          <a:p>
            <a:pPr>
              <a:spcAft>
                <a:spcPts val="1000"/>
              </a:spcAft>
            </a:pPr>
            <a:r>
              <a:rPr sz="1350" b="1">
                <a:solidFill>
                  <a:srgbClr val="1F487C"/>
                </a:solidFill>
                <a:latin typeface="Arial"/>
              </a:rPr>
              <a:t>•  End-of-Word Flag: </a:t>
            </a:r>
            <a:r>
              <a:rPr sz="1300" b="0">
                <a:solidFill>
                  <a:srgbClr val="1A1A1A"/>
                </a:solidFill>
                <a:latin typeface="Arial"/>
              </a:rPr>
              <a:t>Boolean flag is_end_of_word indicates complete canonical skill entities with attached metadata.</a:t>
            </a:r>
          </a:p>
        </p:txBody>
      </p:sp>
      <p:sp>
        <p:nvSpPr>
          <p:cNvPr id="10" name="Rounded Rectangle 9"/>
          <p:cNvSpPr/>
          <p:nvPr/>
        </p:nvSpPr>
        <p:spPr>
          <a:xfrm>
            <a:off x="635508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Performance Comparison &amp; Execution</a:t>
            </a:r>
          </a:p>
        </p:txBody>
      </p:sp>
      <p:sp>
        <p:nvSpPr>
          <p:cNvPr id="12" name="TextBox 11"/>
          <p:cNvSpPr txBox="1"/>
          <p:nvPr/>
        </p:nvSpPr>
        <p:spPr>
          <a:xfrm>
            <a:off x="649224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Without Trie (Linear Search): </a:t>
            </a:r>
            <a:r>
              <a:rPr sz="1300" b="0">
                <a:solidFill>
                  <a:srgbClr val="1A1A1A"/>
                </a:solidFill>
                <a:latin typeface="Arial"/>
              </a:rPr>
              <a:t>Scanning thousands of skill strings takes O(N · L) time, causing visible typing lag in the frontend.</a:t>
            </a:r>
          </a:p>
          <a:p>
            <a:pPr>
              <a:spcAft>
                <a:spcPts val="1000"/>
              </a:spcAft>
            </a:pPr>
            <a:r>
              <a:rPr sz="1350" b="1">
                <a:solidFill>
                  <a:srgbClr val="1F487C"/>
                </a:solidFill>
                <a:latin typeface="Arial"/>
              </a:rPr>
              <a:t>•  With Trie Traversal: </a:t>
            </a:r>
            <a:r>
              <a:rPr sz="1300" b="0">
                <a:solidFill>
                  <a:srgbClr val="1A1A1A"/>
                </a:solidFill>
                <a:latin typeface="Arial"/>
              </a:rPr>
              <a:t>Direct root-to-leaf pointer navigation takes O(L) time + DFS collection of subtree recommendations.</a:t>
            </a:r>
          </a:p>
          <a:p>
            <a:pPr>
              <a:spcAft>
                <a:spcPts val="1000"/>
              </a:spcAft>
            </a:pPr>
            <a:r>
              <a:rPr sz="1350" b="1">
                <a:solidFill>
                  <a:srgbClr val="1F487C"/>
                </a:solidFill>
                <a:latin typeface="Arial"/>
              </a:rPr>
              <a:t>•  Autocomplete Query Walkthrough: </a:t>
            </a:r>
            <a:r>
              <a:rPr sz="1300" b="0">
                <a:solidFill>
                  <a:srgbClr val="1A1A1A"/>
                </a:solidFill>
                <a:latin typeface="Arial"/>
              </a:rPr>
              <a:t>User inputs 'py' → Root navigates 'p' → 'y' → Subtree DFS returns: 'Python', 'PyTorch', 'PySpark' in &lt;1ms.</a:t>
            </a:r>
          </a:p>
          <a:p>
            <a:pPr>
              <a:spcAft>
                <a:spcPts val="1000"/>
              </a:spcAft>
            </a:pPr>
            <a:r>
              <a:rPr sz="1350" b="1">
                <a:solidFill>
                  <a:srgbClr val="1F487C"/>
                </a:solidFill>
                <a:latin typeface="Arial"/>
              </a:rPr>
              <a:t>•  Fuzzy Typo-Tolerance: </a:t>
            </a:r>
            <a:r>
              <a:rPr sz="1300" b="0">
                <a:solidFill>
                  <a:srgbClr val="1A1A1A"/>
                </a:solidFill>
                <a:latin typeface="Arial"/>
              </a:rPr>
              <a:t>Levenstein distance integrated into Trie traversal allows matching even with single-character typos.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PRIORITY QUEUE (MAX-HEAP)</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13</a:t>
            </a:r>
          </a:p>
        </p:txBody>
      </p:sp>
      <p:sp>
        <p:nvSpPr>
          <p:cNvPr id="7" name="Rounded Rectangle 6"/>
          <p:cNvSpPr/>
          <p:nvPr/>
        </p:nvSpPr>
        <p:spPr>
          <a:xfrm>
            <a:off x="54864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Max-Heap Data Architecture</a:t>
            </a:r>
          </a:p>
        </p:txBody>
      </p:sp>
      <p:sp>
        <p:nvSpPr>
          <p:cNvPr id="9" name="TextBox 8"/>
          <p:cNvSpPr txBox="1"/>
          <p:nvPr/>
        </p:nvSpPr>
        <p:spPr>
          <a:xfrm>
            <a:off x="68580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Binary Max-Heap Structure: </a:t>
            </a:r>
            <a:r>
              <a:rPr sz="1300" b="0">
                <a:solidFill>
                  <a:srgbClr val="1A1A1A"/>
                </a:solidFill>
                <a:latin typeface="Arial"/>
              </a:rPr>
              <a:t>Complete binary tree stored compactly in continuous memory array; parent at index i, children at 2i+1 and 2i+2.</a:t>
            </a:r>
          </a:p>
          <a:p>
            <a:pPr>
              <a:spcAft>
                <a:spcPts val="1000"/>
              </a:spcAft>
            </a:pPr>
            <a:r>
              <a:rPr sz="1350" b="1">
                <a:solidFill>
                  <a:srgbClr val="1F487C"/>
                </a:solidFill>
                <a:latin typeface="Arial"/>
              </a:rPr>
              <a:t>•  Zero Pointer Overhead: </a:t>
            </a:r>
            <a:r>
              <a:rPr sz="1300" b="0">
                <a:solidFill>
                  <a:srgbClr val="1A1A1A"/>
                </a:solidFill>
                <a:latin typeface="Arial"/>
              </a:rPr>
              <a:t>Array storage minimizes cache misses and eliminates recursive pointer dereferencing.</a:t>
            </a:r>
          </a:p>
          <a:p>
            <a:pPr>
              <a:spcAft>
                <a:spcPts val="1000"/>
              </a:spcAft>
            </a:pPr>
            <a:r>
              <a:rPr sz="1350" b="1">
                <a:solidFill>
                  <a:srgbClr val="1F487C"/>
                </a:solidFill>
                <a:latin typeface="Arial"/>
              </a:rPr>
              <a:t>•  Heap Invariant Property: </a:t>
            </a:r>
            <a:r>
              <a:rPr sz="1300" b="0">
                <a:solidFill>
                  <a:srgbClr val="1A1A1A"/>
                </a:solidFill>
                <a:latin typeface="Arial"/>
              </a:rPr>
              <a:t>Every parent node's priority value is strictly greater than or equal to its children's priority.</a:t>
            </a:r>
          </a:p>
          <a:p>
            <a:pPr>
              <a:spcAft>
                <a:spcPts val="1000"/>
              </a:spcAft>
            </a:pPr>
            <a:r>
              <a:rPr sz="1350" b="1">
                <a:solidFill>
                  <a:srgbClr val="1F487C"/>
                </a:solidFill>
                <a:latin typeface="Arial"/>
              </a:rPr>
              <a:t>•  Dynamic Heap Operations: </a:t>
            </a:r>
            <a:r>
              <a:rPr sz="1300" b="0">
                <a:solidFill>
                  <a:srgbClr val="1A1A1A"/>
                </a:solidFill>
                <a:latin typeface="Arial"/>
              </a:rPr>
              <a:t>Insertion executes in O(log K); maximum priority extraction (heappop) executes in O(log K).</a:t>
            </a:r>
          </a:p>
        </p:txBody>
      </p:sp>
      <p:sp>
        <p:nvSpPr>
          <p:cNvPr id="10" name="Rounded Rectangle 9"/>
          <p:cNvSpPr/>
          <p:nvPr/>
        </p:nvSpPr>
        <p:spPr>
          <a:xfrm>
            <a:off x="635508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Skill Prioritization Mechanics</a:t>
            </a:r>
          </a:p>
        </p:txBody>
      </p:sp>
      <p:sp>
        <p:nvSpPr>
          <p:cNvPr id="12" name="TextBox 11"/>
          <p:cNvSpPr txBox="1"/>
          <p:nvPr/>
        </p:nvSpPr>
        <p:spPr>
          <a:xfrm>
            <a:off x="649224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Priority Score Formula: </a:t>
            </a:r>
            <a:r>
              <a:rPr sz="1300" b="0">
                <a:solidFill>
                  <a:srgbClr val="1A1A1A"/>
                </a:solidFill>
                <a:latin typeface="Arial"/>
              </a:rPr>
              <a:t>Priority = (0.60 × IndustryMarketDemand) + (0.40 × DownstreamUnlocks); balances job value and foundational impact.</a:t>
            </a:r>
          </a:p>
          <a:p>
            <a:pPr>
              <a:spcAft>
                <a:spcPts val="1000"/>
              </a:spcAft>
            </a:pPr>
            <a:r>
              <a:rPr sz="1350" b="1">
                <a:solidFill>
                  <a:srgbClr val="1F487C"/>
                </a:solidFill>
                <a:latin typeface="Arial"/>
              </a:rPr>
              <a:t>•  Step 1: Deficit Extraction: </a:t>
            </a:r>
            <a:r>
              <a:rPr sz="1300" b="0">
                <a:solidFill>
                  <a:srgbClr val="1A1A1A"/>
                </a:solidFill>
                <a:latin typeface="Arial"/>
              </a:rPr>
              <a:t>Compute missing skills: Deficit = TargetRoleSkills - StudentSkills in O(S) set operations.</a:t>
            </a:r>
          </a:p>
          <a:p>
            <a:pPr>
              <a:spcAft>
                <a:spcPts val="1000"/>
              </a:spcAft>
            </a:pPr>
            <a:r>
              <a:rPr sz="1350" b="1">
                <a:solidFill>
                  <a:srgbClr val="1F487C"/>
                </a:solidFill>
                <a:latin typeface="Arial"/>
              </a:rPr>
              <a:t>•  Step 2: Heap Construction: </a:t>
            </a:r>
            <a:r>
              <a:rPr sz="1300" b="0">
                <a:solidFill>
                  <a:srgbClr val="1A1A1A"/>
                </a:solidFill>
                <a:latin typeface="Arial"/>
              </a:rPr>
              <a:t>Push all deficit competencies into Max-Heap with calculated Priority scores in O(K log K).</a:t>
            </a:r>
          </a:p>
          <a:p>
            <a:pPr>
              <a:spcAft>
                <a:spcPts val="1000"/>
              </a:spcAft>
            </a:pPr>
            <a:r>
              <a:rPr sz="1350" b="1">
                <a:solidFill>
                  <a:srgbClr val="1F487C"/>
                </a:solidFill>
                <a:latin typeface="Arial"/>
              </a:rPr>
              <a:t>•  Step 3: Milestone Extraction: </a:t>
            </a:r>
            <a:r>
              <a:rPr sz="1300" b="0">
                <a:solidFill>
                  <a:srgbClr val="1A1A1A"/>
                </a:solidFill>
                <a:latin typeface="Arial"/>
              </a:rPr>
              <a:t>Extract the root element to deliver the single most impactful skill the student must learn next.</a:t>
            </a:r>
          </a:p>
          <a:p>
            <a:pPr>
              <a:spcAft>
                <a:spcPts val="1000"/>
              </a:spcAft>
            </a:pPr>
            <a:r>
              <a:rPr sz="1350" b="1">
                <a:solidFill>
                  <a:srgbClr val="1F487C"/>
                </a:solidFill>
                <a:latin typeface="Arial"/>
              </a:rPr>
              <a:t>•  Educational Significance: </a:t>
            </a:r>
            <a:r>
              <a:rPr sz="1300" b="0">
                <a:solidFill>
                  <a:srgbClr val="1A1A1A"/>
                </a:solidFill>
                <a:latin typeface="Arial"/>
              </a:rPr>
              <a:t>Prevents students from wasting time on low-demand electives before conquering high-yield competencies.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DECISION TREE &amp; DYNAMIC PROGRAMMING</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14</a:t>
            </a:r>
          </a:p>
        </p:txBody>
      </p:sp>
      <p:sp>
        <p:nvSpPr>
          <p:cNvPr id="7" name="Rounded Rectangle 6"/>
          <p:cNvSpPr/>
          <p:nvPr/>
        </p:nvSpPr>
        <p:spPr>
          <a:xfrm>
            <a:off x="54864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Decision Tree Career Routing</a:t>
            </a:r>
          </a:p>
        </p:txBody>
      </p:sp>
      <p:sp>
        <p:nvSpPr>
          <p:cNvPr id="9" name="TextBox 8"/>
          <p:cNvSpPr txBox="1"/>
          <p:nvPr/>
        </p:nvSpPr>
        <p:spPr>
          <a:xfrm>
            <a:off x="68580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Decision Tree Topology: </a:t>
            </a:r>
            <a:r>
              <a:rPr sz="1300" b="0">
                <a:solidFill>
                  <a:srgbClr val="1A1A1A"/>
                </a:solidFill>
                <a:latin typeface="Arial"/>
              </a:rPr>
              <a:t>Hierarchical branching structure that evaluates high-level student constraints (math background, coding proficiency, time commitment).</a:t>
            </a:r>
          </a:p>
          <a:p>
            <a:pPr>
              <a:spcAft>
                <a:spcPts val="1000"/>
              </a:spcAft>
            </a:pPr>
            <a:r>
              <a:rPr sz="1350" b="1">
                <a:solidFill>
                  <a:srgbClr val="1F487C"/>
                </a:solidFill>
                <a:latin typeface="Arial"/>
              </a:rPr>
              <a:t>•  Rule-Based Routing: </a:t>
            </a:r>
            <a:r>
              <a:rPr sz="1300" b="0">
                <a:solidFill>
                  <a:srgbClr val="1A1A1A"/>
                </a:solidFill>
                <a:latin typeface="Arial"/>
              </a:rPr>
              <a:t>Directs students toward candidate career subgraphs (e.g., Data Science vs. Cloud Engineering vs. Cyber Security) in O(Depth) time.</a:t>
            </a:r>
          </a:p>
          <a:p>
            <a:pPr>
              <a:spcAft>
                <a:spcPts val="1000"/>
              </a:spcAft>
            </a:pPr>
            <a:r>
              <a:rPr sz="1350" b="1">
                <a:solidFill>
                  <a:srgbClr val="1F487C"/>
                </a:solidFill>
                <a:latin typeface="Arial"/>
              </a:rPr>
              <a:t>•  Entropy &amp; Information Gain: </a:t>
            </a:r>
            <a:r>
              <a:rPr sz="1300" b="0">
                <a:solidFill>
                  <a:srgbClr val="1A1A1A"/>
                </a:solidFill>
                <a:latin typeface="Arial"/>
              </a:rPr>
              <a:t>Nodes split on attributes that maximize specialization clarity and filter irrelevant skill domains.</a:t>
            </a:r>
          </a:p>
          <a:p>
            <a:pPr>
              <a:spcAft>
                <a:spcPts val="1000"/>
              </a:spcAft>
            </a:pPr>
            <a:r>
              <a:rPr sz="1350" b="1">
                <a:solidFill>
                  <a:srgbClr val="1F487C"/>
                </a:solidFill>
                <a:latin typeface="Arial"/>
              </a:rPr>
              <a:t>•  Seamless Hand-off: </a:t>
            </a:r>
            <a:r>
              <a:rPr sz="1300" b="0">
                <a:solidFill>
                  <a:srgbClr val="1A1A1A"/>
                </a:solidFill>
                <a:latin typeface="Arial"/>
              </a:rPr>
              <a:t>Once candidate target vertices are identified, the platform activates Dijkstra's algorithm for fine-grained milestone planning.</a:t>
            </a:r>
          </a:p>
        </p:txBody>
      </p:sp>
      <p:sp>
        <p:nvSpPr>
          <p:cNvPr id="10" name="Rounded Rectangle 9"/>
          <p:cNvSpPr/>
          <p:nvPr/>
        </p:nvSpPr>
        <p:spPr>
          <a:xfrm>
            <a:off x="6355080" y="1325880"/>
            <a:ext cx="5257800" cy="480060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Dynamic Programming Memoization</a:t>
            </a:r>
          </a:p>
        </p:txBody>
      </p:sp>
      <p:sp>
        <p:nvSpPr>
          <p:cNvPr id="12" name="TextBox 11"/>
          <p:cNvSpPr txBox="1"/>
          <p:nvPr/>
        </p:nvSpPr>
        <p:spPr>
          <a:xfrm>
            <a:off x="6492240" y="1874520"/>
            <a:ext cx="4983480" cy="4160520"/>
          </a:xfrm>
          <a:prstGeom prst="rect">
            <a:avLst/>
          </a:prstGeom>
          <a:noFill/>
        </p:spPr>
        <p:txBody>
          <a:bodyPr wrap="square" lIns="45720">
            <a:spAutoFit/>
          </a:bodyPr>
          <a:lstStyle/>
          <a:p>
            <a:pPr>
              <a:spcAft>
                <a:spcPts val="1000"/>
              </a:spcAft>
            </a:pPr>
            <a:r>
              <a:rPr sz="1350" b="1">
                <a:solidFill>
                  <a:srgbClr val="1F487C"/>
                </a:solidFill>
                <a:latin typeface="Arial"/>
              </a:rPr>
              <a:t>•  Overlapping Subproblem Property: </a:t>
            </a:r>
            <a:r>
              <a:rPr sz="1300" b="0">
                <a:solidFill>
                  <a:srgbClr val="1A1A1A"/>
                </a:solidFill>
                <a:latin typeface="Arial"/>
              </a:rPr>
              <a:t>Multiple career tracks share identical foundational sequences (e.g., Python + Git + Data Structures is shared across AI, Cloud, and Web).</a:t>
            </a:r>
          </a:p>
          <a:p>
            <a:pPr>
              <a:spcAft>
                <a:spcPts val="1000"/>
              </a:spcAft>
            </a:pPr>
            <a:r>
              <a:rPr sz="1350" b="1">
                <a:solidFill>
                  <a:srgbClr val="1F487C"/>
                </a:solidFill>
                <a:latin typeface="Arial"/>
              </a:rPr>
              <a:t>•  Memoization Table Cache: </a:t>
            </a:r>
            <a:r>
              <a:rPr sz="1300" b="0">
                <a:solidFill>
                  <a:srgbClr val="1A1A1A"/>
                </a:solidFill>
                <a:latin typeface="Arial"/>
              </a:rPr>
              <a:t>Computed shortest subpaths between intermediate skill milestones are cached in a hash table memo.</a:t>
            </a:r>
          </a:p>
          <a:p>
            <a:pPr>
              <a:spcAft>
                <a:spcPts val="1000"/>
              </a:spcAft>
            </a:pPr>
            <a:r>
              <a:rPr sz="1350" b="1">
                <a:solidFill>
                  <a:srgbClr val="1F487C"/>
                </a:solidFill>
                <a:latin typeface="Arial"/>
              </a:rPr>
              <a:t>•  Exponential to Polynomial: </a:t>
            </a:r>
            <a:r>
              <a:rPr sz="1300" b="0">
                <a:solidFill>
                  <a:srgbClr val="1A1A1A"/>
                </a:solidFill>
                <a:latin typeface="Arial"/>
              </a:rPr>
              <a:t>Memoization reduces redundant subpath recalculations from O(2^n) brute force to O(V + E) table lookups.</a:t>
            </a:r>
          </a:p>
          <a:p>
            <a:pPr>
              <a:spcAft>
                <a:spcPts val="1000"/>
              </a:spcAft>
            </a:pPr>
            <a:r>
              <a:rPr sz="1350" b="1">
                <a:solidFill>
                  <a:srgbClr val="1F487C"/>
                </a:solidFill>
                <a:latin typeface="Arial"/>
              </a:rPr>
              <a:t>•  Scalability Guarantee: </a:t>
            </a:r>
            <a:r>
              <a:rPr sz="1300" b="0">
                <a:solidFill>
                  <a:srgbClr val="1A1A1A"/>
                </a:solidFill>
                <a:latin typeface="Arial"/>
              </a:rPr>
              <a:t>Enables simultaneous multi-career feasibility evaluations without degrading platform responsiveness.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ALGORITHMIC TRADE-OFFS &amp; DECISIONS</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15</a:t>
            </a:r>
          </a:p>
        </p:txBody>
      </p:sp>
      <p:sp>
        <p:nvSpPr>
          <p:cNvPr id="7" name="Rounded Rectangle 6"/>
          <p:cNvSpPr/>
          <p:nvPr/>
        </p:nvSpPr>
        <p:spPr>
          <a:xfrm>
            <a:off x="548640" y="1325880"/>
            <a:ext cx="5257800" cy="224028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Adjacency List vs. Adjacency Matrix</a:t>
            </a:r>
          </a:p>
        </p:txBody>
      </p:sp>
      <p:sp>
        <p:nvSpPr>
          <p:cNvPr id="9" name="TextBox 8"/>
          <p:cNvSpPr txBox="1"/>
          <p:nvPr/>
        </p:nvSpPr>
        <p:spPr>
          <a:xfrm>
            <a:off x="685800" y="1874520"/>
            <a:ext cx="4983480" cy="1600200"/>
          </a:xfrm>
          <a:prstGeom prst="rect">
            <a:avLst/>
          </a:prstGeom>
          <a:noFill/>
        </p:spPr>
        <p:txBody>
          <a:bodyPr wrap="square" lIns="45720">
            <a:spAutoFit/>
          </a:bodyPr>
          <a:lstStyle/>
          <a:p>
            <a:pPr>
              <a:spcAft>
                <a:spcPts val="1000"/>
              </a:spcAft>
            </a:pPr>
            <a:r>
              <a:rPr sz="1350" b="1">
                <a:solidFill>
                  <a:srgbClr val="1F487C"/>
                </a:solidFill>
                <a:latin typeface="Arial"/>
              </a:rPr>
              <a:t>•  Adjacency List Chosen: </a:t>
            </a:r>
            <a:r>
              <a:rPr sz="1300" b="0">
                <a:solidFill>
                  <a:srgbClr val="1A1A1A"/>
                </a:solidFill>
                <a:latin typeface="Arial"/>
              </a:rPr>
              <a:t>Career graphs are sparse (E &lt;&lt; V^2); Adjacency List consumes O(V + E) space vs O(V^2) for Matrix.</a:t>
            </a:r>
          </a:p>
          <a:p>
            <a:pPr>
              <a:spcAft>
                <a:spcPts val="1000"/>
              </a:spcAft>
            </a:pPr>
            <a:r>
              <a:rPr sz="1350" b="1">
                <a:solidFill>
                  <a:srgbClr val="1F487C"/>
                </a:solidFill>
                <a:latin typeface="Arial"/>
              </a:rPr>
              <a:t>•  Traversal Efficiency: </a:t>
            </a:r>
            <a:r>
              <a:rPr sz="1300" b="0">
                <a:solidFill>
                  <a:srgbClr val="1A1A1A"/>
                </a:solidFill>
                <a:latin typeface="Arial"/>
              </a:rPr>
              <a:t>Iterating over neighbors in Dijkstra takes O(deg(v)) rather than scanning V cells in a matrix row.</a:t>
            </a:r>
          </a:p>
        </p:txBody>
      </p:sp>
      <p:sp>
        <p:nvSpPr>
          <p:cNvPr id="10" name="Rounded Rectangle 9"/>
          <p:cNvSpPr/>
          <p:nvPr/>
        </p:nvSpPr>
        <p:spPr>
          <a:xfrm>
            <a:off x="6355080" y="1325880"/>
            <a:ext cx="5257800" cy="224028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Dijkstra's Algorithm vs. BFS</a:t>
            </a:r>
          </a:p>
        </p:txBody>
      </p:sp>
      <p:sp>
        <p:nvSpPr>
          <p:cNvPr id="12" name="TextBox 11"/>
          <p:cNvSpPr txBox="1"/>
          <p:nvPr/>
        </p:nvSpPr>
        <p:spPr>
          <a:xfrm>
            <a:off x="6492240" y="1874520"/>
            <a:ext cx="4983480" cy="1600200"/>
          </a:xfrm>
          <a:prstGeom prst="rect">
            <a:avLst/>
          </a:prstGeom>
          <a:noFill/>
        </p:spPr>
        <p:txBody>
          <a:bodyPr wrap="square" lIns="45720">
            <a:spAutoFit/>
          </a:bodyPr>
          <a:lstStyle/>
          <a:p>
            <a:pPr>
              <a:spcAft>
                <a:spcPts val="1000"/>
              </a:spcAft>
            </a:pPr>
            <a:r>
              <a:rPr sz="1350" b="1">
                <a:solidFill>
                  <a:srgbClr val="1F487C"/>
                </a:solidFill>
                <a:latin typeface="Arial"/>
              </a:rPr>
              <a:t>•  Dijkstra for Weighted Effort: </a:t>
            </a:r>
            <a:r>
              <a:rPr sz="1300" b="0">
                <a:solidFill>
                  <a:srgbClr val="1A1A1A"/>
                </a:solidFill>
                <a:latin typeface="Arial"/>
              </a:rPr>
              <a:t>Milestones carry varying study hours (e.g., Git = 1 week, Machine Learning = 8 weeks); Dijkstra optimizes true effort.</a:t>
            </a:r>
          </a:p>
          <a:p>
            <a:pPr>
              <a:spcAft>
                <a:spcPts val="1000"/>
              </a:spcAft>
            </a:pPr>
            <a:r>
              <a:rPr sz="1350" b="1">
                <a:solidFill>
                  <a:srgbClr val="1F487C"/>
                </a:solidFill>
                <a:latin typeface="Arial"/>
              </a:rPr>
              <a:t>•  BFS for Unweighted Steps: </a:t>
            </a:r>
            <a:r>
              <a:rPr sz="1300" b="0">
                <a:solidFill>
                  <a:srgbClr val="1A1A1A"/>
                </a:solidFill>
                <a:latin typeface="Arial"/>
              </a:rPr>
              <a:t>BFS is retained exclusively for students seeking minimum milestone count regardless of credit weights.</a:t>
            </a:r>
          </a:p>
        </p:txBody>
      </p:sp>
      <p:sp>
        <p:nvSpPr>
          <p:cNvPr id="13" name="Rounded Rectangle 12"/>
          <p:cNvSpPr/>
          <p:nvPr/>
        </p:nvSpPr>
        <p:spPr>
          <a:xfrm>
            <a:off x="548640" y="3794760"/>
            <a:ext cx="5257800" cy="224028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794760"/>
            <a:ext cx="5257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Trie (Prefix Tree) vs. Hash Map</a:t>
            </a:r>
          </a:p>
        </p:txBody>
      </p:sp>
      <p:sp>
        <p:nvSpPr>
          <p:cNvPr id="15" name="TextBox 14"/>
          <p:cNvSpPr txBox="1"/>
          <p:nvPr/>
        </p:nvSpPr>
        <p:spPr>
          <a:xfrm>
            <a:off x="685800" y="4343400"/>
            <a:ext cx="4983480" cy="1600200"/>
          </a:xfrm>
          <a:prstGeom prst="rect">
            <a:avLst/>
          </a:prstGeom>
          <a:noFill/>
        </p:spPr>
        <p:txBody>
          <a:bodyPr wrap="square" lIns="45720">
            <a:spAutoFit/>
          </a:bodyPr>
          <a:lstStyle/>
          <a:p>
            <a:pPr>
              <a:spcAft>
                <a:spcPts val="1000"/>
              </a:spcAft>
            </a:pPr>
            <a:r>
              <a:rPr sz="1350" b="1">
                <a:solidFill>
                  <a:srgbClr val="1F487C"/>
                </a:solidFill>
                <a:latin typeface="Arial"/>
              </a:rPr>
              <a:t>•  Trie for Autocomplete: </a:t>
            </a:r>
            <a:r>
              <a:rPr sz="1300" b="0">
                <a:solidFill>
                  <a:srgbClr val="1A1A1A"/>
                </a:solidFill>
                <a:latin typeface="Arial"/>
              </a:rPr>
              <a:t>Hash Maps cannot perform prefix searches without an O(N) full-table scan; Trie achieves O(L) instant prefix completion.</a:t>
            </a:r>
          </a:p>
          <a:p>
            <a:pPr>
              <a:spcAft>
                <a:spcPts val="1000"/>
              </a:spcAft>
            </a:pPr>
            <a:r>
              <a:rPr sz="1350" b="1">
                <a:solidFill>
                  <a:srgbClr val="1F487C"/>
                </a:solidFill>
                <a:latin typeface="Arial"/>
              </a:rPr>
              <a:t>•  Hash Map for Ingestion: </a:t>
            </a:r>
            <a:r>
              <a:rPr sz="1300" b="0">
                <a:solidFill>
                  <a:srgbClr val="1A1A1A"/>
                </a:solidFill>
                <a:latin typeface="Arial"/>
              </a:rPr>
              <a:t>Hash Set is retained for O(1) membership checks of already acquired student skills.</a:t>
            </a:r>
          </a:p>
        </p:txBody>
      </p:sp>
      <p:sp>
        <p:nvSpPr>
          <p:cNvPr id="16" name="Rounded Rectangle 15"/>
          <p:cNvSpPr/>
          <p:nvPr/>
        </p:nvSpPr>
        <p:spPr>
          <a:xfrm>
            <a:off x="6355080" y="3794760"/>
            <a:ext cx="5257800" cy="224028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379476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Binary Max-Heap vs. Sorted Array</a:t>
            </a:r>
          </a:p>
        </p:txBody>
      </p:sp>
      <p:sp>
        <p:nvSpPr>
          <p:cNvPr id="18" name="TextBox 17"/>
          <p:cNvSpPr txBox="1"/>
          <p:nvPr/>
        </p:nvSpPr>
        <p:spPr>
          <a:xfrm>
            <a:off x="6492240" y="4343400"/>
            <a:ext cx="4983480" cy="1600200"/>
          </a:xfrm>
          <a:prstGeom prst="rect">
            <a:avLst/>
          </a:prstGeom>
          <a:noFill/>
        </p:spPr>
        <p:txBody>
          <a:bodyPr wrap="square" lIns="45720">
            <a:spAutoFit/>
          </a:bodyPr>
          <a:lstStyle/>
          <a:p>
            <a:pPr>
              <a:spcAft>
                <a:spcPts val="1000"/>
              </a:spcAft>
            </a:pPr>
            <a:r>
              <a:rPr sz="1350" b="1">
                <a:solidFill>
                  <a:srgbClr val="1F487C"/>
                </a:solidFill>
                <a:latin typeface="Arial"/>
              </a:rPr>
              <a:t>•  Binary Heap Chosen: </a:t>
            </a:r>
            <a:r>
              <a:rPr sz="1300" b="0">
                <a:solidFill>
                  <a:srgbClr val="1A1A1A"/>
                </a:solidFill>
                <a:latin typeface="Arial"/>
              </a:rPr>
              <a:t>Inserting into a sorted array takes O(K) time; Binary Heap achieves insertions and extractions in O(log K).</a:t>
            </a:r>
          </a:p>
          <a:p>
            <a:pPr>
              <a:spcAft>
                <a:spcPts val="1000"/>
              </a:spcAft>
            </a:pPr>
            <a:r>
              <a:rPr sz="1350" b="1">
                <a:solidFill>
                  <a:srgbClr val="1F487C"/>
                </a:solidFill>
                <a:latin typeface="Arial"/>
              </a:rPr>
              <a:t>•  Dynamic Scalability: </a:t>
            </a:r>
            <a:r>
              <a:rPr sz="1300" b="0">
                <a:solidFill>
                  <a:srgbClr val="1A1A1A"/>
                </a:solidFill>
                <a:latin typeface="Arial"/>
              </a:rPr>
              <a:t>Supports high-frequency priority recalibrations as student completes skills.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PLATFORM MODULES &amp; IMPLEMENTATION</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16</a:t>
            </a:r>
          </a:p>
        </p:txBody>
      </p:sp>
      <p:sp>
        <p:nvSpPr>
          <p:cNvPr id="7" name="Rounded Rectangle 6"/>
          <p:cNvSpPr/>
          <p:nvPr/>
        </p:nvSpPr>
        <p:spPr>
          <a:xfrm>
            <a:off x="548640" y="1371600"/>
            <a:ext cx="34747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53619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1</a:t>
            </a:r>
          </a:p>
        </p:txBody>
      </p:sp>
      <p:sp>
        <p:nvSpPr>
          <p:cNvPr id="9" name="TextBox 8"/>
          <p:cNvSpPr txBox="1"/>
          <p:nvPr/>
        </p:nvSpPr>
        <p:spPr>
          <a:xfrm>
            <a:off x="685800" y="2029968"/>
            <a:ext cx="3200400" cy="1417320"/>
          </a:xfrm>
          <a:prstGeom prst="rect">
            <a:avLst/>
          </a:prstGeom>
          <a:noFill/>
        </p:spPr>
        <p:txBody>
          <a:bodyPr wrap="square">
            <a:spAutoFit/>
          </a:bodyPr>
          <a:lstStyle/>
          <a:p>
            <a:pPr>
              <a:spcAft>
                <a:spcPts val="400"/>
              </a:spcAft>
              <a:defRPr sz="1300" b="1">
                <a:solidFill>
                  <a:srgbClr val="1F487C"/>
                </a:solidFill>
                <a:latin typeface="Arial"/>
              </a:defRPr>
            </a:pPr>
            <a:r>
              <a:t>Student Profile Analyzer</a:t>
            </a:r>
          </a:p>
          <a:p>
            <a:pPr>
              <a:defRPr sz="1100">
                <a:solidFill>
                  <a:srgbClr val="1A1A1A"/>
                </a:solidFill>
                <a:latin typeface="Arial"/>
              </a:defRPr>
            </a:pPr>
            <a:r>
              <a:t>Parses entered academic records, skill tags, and tracks mastery state in high-speed Hash Sets.</a:t>
            </a:r>
          </a:p>
        </p:txBody>
      </p:sp>
      <p:sp>
        <p:nvSpPr>
          <p:cNvPr id="10" name="Rounded Rectangle 9"/>
          <p:cNvSpPr/>
          <p:nvPr/>
        </p:nvSpPr>
        <p:spPr>
          <a:xfrm>
            <a:off x="4343400" y="1371600"/>
            <a:ext cx="34747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80" y="153619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2</a:t>
            </a:r>
          </a:p>
        </p:txBody>
      </p:sp>
      <p:sp>
        <p:nvSpPr>
          <p:cNvPr id="12" name="TextBox 11"/>
          <p:cNvSpPr txBox="1"/>
          <p:nvPr/>
        </p:nvSpPr>
        <p:spPr>
          <a:xfrm>
            <a:off x="4480560" y="2029968"/>
            <a:ext cx="3200400" cy="1417320"/>
          </a:xfrm>
          <a:prstGeom prst="rect">
            <a:avLst/>
          </a:prstGeom>
          <a:noFill/>
        </p:spPr>
        <p:txBody>
          <a:bodyPr wrap="square">
            <a:spAutoFit/>
          </a:bodyPr>
          <a:lstStyle/>
          <a:p>
            <a:pPr>
              <a:spcAft>
                <a:spcPts val="400"/>
              </a:spcAft>
              <a:defRPr sz="1300" b="1">
                <a:solidFill>
                  <a:srgbClr val="1F487C"/>
                </a:solidFill>
                <a:latin typeface="Arial"/>
              </a:defRPr>
            </a:pPr>
            <a:r>
              <a:t>Career Knowledge Graph Engine</a:t>
            </a:r>
          </a:p>
          <a:p>
            <a:pPr>
              <a:defRPr sz="1100">
                <a:solidFill>
                  <a:srgbClr val="1A1A1A"/>
                </a:solidFill>
                <a:latin typeface="Arial"/>
              </a:defRPr>
            </a:pPr>
            <a:r>
              <a:t>Maintains weighted DAG of technical competencies, prerequisites, and industry tracks.</a:t>
            </a:r>
          </a:p>
        </p:txBody>
      </p:sp>
      <p:sp>
        <p:nvSpPr>
          <p:cNvPr id="13" name="Rounded Rectangle 12"/>
          <p:cNvSpPr/>
          <p:nvPr/>
        </p:nvSpPr>
        <p:spPr>
          <a:xfrm>
            <a:off x="8138160" y="1371600"/>
            <a:ext cx="34747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1040" y="153619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3</a:t>
            </a:r>
          </a:p>
        </p:txBody>
      </p:sp>
      <p:sp>
        <p:nvSpPr>
          <p:cNvPr id="15" name="TextBox 14"/>
          <p:cNvSpPr txBox="1"/>
          <p:nvPr/>
        </p:nvSpPr>
        <p:spPr>
          <a:xfrm>
            <a:off x="8275320" y="2029968"/>
            <a:ext cx="3200400" cy="1417320"/>
          </a:xfrm>
          <a:prstGeom prst="rect">
            <a:avLst/>
          </a:prstGeom>
          <a:noFill/>
        </p:spPr>
        <p:txBody>
          <a:bodyPr wrap="square">
            <a:spAutoFit/>
          </a:bodyPr>
          <a:lstStyle/>
          <a:p>
            <a:pPr>
              <a:spcAft>
                <a:spcPts val="400"/>
              </a:spcAft>
              <a:defRPr sz="1300" b="1">
                <a:solidFill>
                  <a:srgbClr val="1F487C"/>
                </a:solidFill>
                <a:latin typeface="Arial"/>
              </a:defRPr>
            </a:pPr>
            <a:r>
              <a:t>Shortest Path Traversal Optimizer</a:t>
            </a:r>
          </a:p>
          <a:p>
            <a:pPr>
              <a:defRPr sz="1100">
                <a:solidFill>
                  <a:srgbClr val="1A1A1A"/>
                </a:solidFill>
                <a:latin typeface="Arial"/>
              </a:defRPr>
            </a:pPr>
            <a:r>
              <a:t>Solves minimum-effort learning trajectory using Dijkstra and topological sorting.</a:t>
            </a:r>
          </a:p>
        </p:txBody>
      </p:sp>
      <p:sp>
        <p:nvSpPr>
          <p:cNvPr id="16" name="Rounded Rectangle 15"/>
          <p:cNvSpPr/>
          <p:nvPr/>
        </p:nvSpPr>
        <p:spPr>
          <a:xfrm>
            <a:off x="548640" y="3840480"/>
            <a:ext cx="34747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400507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4</a:t>
            </a:r>
          </a:p>
        </p:txBody>
      </p:sp>
      <p:sp>
        <p:nvSpPr>
          <p:cNvPr id="18" name="TextBox 17"/>
          <p:cNvSpPr txBox="1"/>
          <p:nvPr/>
        </p:nvSpPr>
        <p:spPr>
          <a:xfrm>
            <a:off x="685800" y="4498848"/>
            <a:ext cx="3200400" cy="1417320"/>
          </a:xfrm>
          <a:prstGeom prst="rect">
            <a:avLst/>
          </a:prstGeom>
          <a:noFill/>
        </p:spPr>
        <p:txBody>
          <a:bodyPr wrap="square">
            <a:spAutoFit/>
          </a:bodyPr>
          <a:lstStyle/>
          <a:p>
            <a:pPr>
              <a:spcAft>
                <a:spcPts val="400"/>
              </a:spcAft>
              <a:defRPr sz="1300" b="1">
                <a:solidFill>
                  <a:srgbClr val="1F487C"/>
                </a:solidFill>
                <a:latin typeface="Arial"/>
              </a:defRPr>
            </a:pPr>
            <a:r>
              <a:t>Trie Skill Search &amp; Autocomplete</a:t>
            </a:r>
          </a:p>
          <a:p>
            <a:pPr>
              <a:defRPr sz="1100">
                <a:solidFill>
                  <a:srgbClr val="1A1A1A"/>
                </a:solidFill>
                <a:latin typeface="Arial"/>
              </a:defRPr>
            </a:pPr>
            <a:r>
              <a:t>Powers real-time search bar with sub-millisecond prefix completion and typo tolerance.</a:t>
            </a:r>
          </a:p>
        </p:txBody>
      </p:sp>
      <p:sp>
        <p:nvSpPr>
          <p:cNvPr id="19" name="Rounded Rectangle 18"/>
          <p:cNvSpPr/>
          <p:nvPr/>
        </p:nvSpPr>
        <p:spPr>
          <a:xfrm>
            <a:off x="4343400" y="3840480"/>
            <a:ext cx="34747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26280" y="400507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5</a:t>
            </a:r>
          </a:p>
        </p:txBody>
      </p:sp>
      <p:sp>
        <p:nvSpPr>
          <p:cNvPr id="21" name="TextBox 20"/>
          <p:cNvSpPr txBox="1"/>
          <p:nvPr/>
        </p:nvSpPr>
        <p:spPr>
          <a:xfrm>
            <a:off x="4480560" y="4498848"/>
            <a:ext cx="3200400" cy="1417320"/>
          </a:xfrm>
          <a:prstGeom prst="rect">
            <a:avLst/>
          </a:prstGeom>
          <a:noFill/>
        </p:spPr>
        <p:txBody>
          <a:bodyPr wrap="square">
            <a:spAutoFit/>
          </a:bodyPr>
          <a:lstStyle/>
          <a:p>
            <a:pPr>
              <a:spcAft>
                <a:spcPts val="400"/>
              </a:spcAft>
              <a:defRPr sz="1300" b="1">
                <a:solidFill>
                  <a:srgbClr val="1F487C"/>
                </a:solidFill>
                <a:latin typeface="Arial"/>
              </a:defRPr>
            </a:pPr>
            <a:r>
              <a:t>Priority Queue Gap Ranker</a:t>
            </a:r>
          </a:p>
          <a:p>
            <a:pPr>
              <a:defRPr sz="1100">
                <a:solidFill>
                  <a:srgbClr val="1A1A1A"/>
                </a:solidFill>
                <a:latin typeface="Arial"/>
              </a:defRPr>
            </a:pPr>
            <a:r>
              <a:t>Calculates skill deficits and delivers prioritized learning recommendations via Max-Heap.</a:t>
            </a:r>
          </a:p>
        </p:txBody>
      </p:sp>
      <p:sp>
        <p:nvSpPr>
          <p:cNvPr id="22" name="Rounded Rectangle 21"/>
          <p:cNvSpPr/>
          <p:nvPr/>
        </p:nvSpPr>
        <p:spPr>
          <a:xfrm>
            <a:off x="8138160" y="3840480"/>
            <a:ext cx="3474720" cy="2148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4005072"/>
            <a:ext cx="438912" cy="438912"/>
          </a:xfrm>
          <a:prstGeom prst="ellipse">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6</a:t>
            </a:r>
          </a:p>
        </p:txBody>
      </p:sp>
      <p:sp>
        <p:nvSpPr>
          <p:cNvPr id="24" name="TextBox 23"/>
          <p:cNvSpPr txBox="1"/>
          <p:nvPr/>
        </p:nvSpPr>
        <p:spPr>
          <a:xfrm>
            <a:off x="8275320" y="4498848"/>
            <a:ext cx="3200400" cy="1417320"/>
          </a:xfrm>
          <a:prstGeom prst="rect">
            <a:avLst/>
          </a:prstGeom>
          <a:noFill/>
        </p:spPr>
        <p:txBody>
          <a:bodyPr wrap="square">
            <a:spAutoFit/>
          </a:bodyPr>
          <a:lstStyle/>
          <a:p>
            <a:pPr>
              <a:spcAft>
                <a:spcPts val="400"/>
              </a:spcAft>
              <a:defRPr sz="1300" b="1">
                <a:solidFill>
                  <a:srgbClr val="1F487C"/>
                </a:solidFill>
                <a:latin typeface="Arial"/>
              </a:defRPr>
            </a:pPr>
            <a:r>
              <a:t>Curriculum Roadmap Visualizer</a:t>
            </a:r>
          </a:p>
          <a:p>
            <a:pPr>
              <a:defRPr sz="1100">
                <a:solidFill>
                  <a:srgbClr val="1A1A1A"/>
                </a:solidFill>
                <a:latin typeface="Arial"/>
              </a:defRPr>
            </a:pPr>
            <a:r>
              <a:t>Renders interactive milestone timelines with prerequisite links, credits, and certificate resources.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RESULTS AND DEMONSTRATION</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17</a:t>
            </a:r>
          </a:p>
        </p:txBody>
      </p:sp>
      <p:sp>
        <p:nvSpPr>
          <p:cNvPr id="7" name="Rounded Rectangle 6"/>
          <p:cNvSpPr/>
          <p:nvPr/>
        </p:nvSpPr>
        <p:spPr>
          <a:xfrm>
            <a:off x="548640" y="1371600"/>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32" y="1600200"/>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9" name="TextBox 8"/>
          <p:cNvSpPr txBox="1"/>
          <p:nvPr/>
        </p:nvSpPr>
        <p:spPr>
          <a:xfrm>
            <a:off x="1280160" y="1463040"/>
            <a:ext cx="4389120" cy="822960"/>
          </a:xfrm>
          <a:prstGeom prst="rect">
            <a:avLst/>
          </a:prstGeom>
          <a:noFill/>
        </p:spPr>
        <p:txBody>
          <a:bodyPr wrap="square">
            <a:spAutoFit/>
          </a:bodyPr>
          <a:lstStyle/>
          <a:p>
            <a:pPr>
              <a:spcAft>
                <a:spcPts val="200"/>
              </a:spcAft>
              <a:defRPr sz="1250" b="1">
                <a:solidFill>
                  <a:srgbClr val="1F487C"/>
                </a:solidFill>
                <a:latin typeface="Arial"/>
              </a:defRPr>
            </a:pPr>
            <a:r>
              <a:t>Dynamic Profile Ingestion</a:t>
            </a:r>
          </a:p>
          <a:p>
            <a:pPr>
              <a:defRPr sz="1050">
                <a:solidFill>
                  <a:srgbClr val="1A1A1A"/>
                </a:solidFill>
                <a:latin typeface="Arial"/>
              </a:defRPr>
            </a:pPr>
            <a:r>
              <a:t>Successfully stores student skills in Hash Sets with O(1) verification latency.</a:t>
            </a:r>
          </a:p>
        </p:txBody>
      </p:sp>
      <p:sp>
        <p:nvSpPr>
          <p:cNvPr id="10" name="Rounded Rectangle 9"/>
          <p:cNvSpPr/>
          <p:nvPr/>
        </p:nvSpPr>
        <p:spPr>
          <a:xfrm>
            <a:off x="548640" y="2487168"/>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3232" y="2715768"/>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12" name="TextBox 11"/>
          <p:cNvSpPr txBox="1"/>
          <p:nvPr/>
        </p:nvSpPr>
        <p:spPr>
          <a:xfrm>
            <a:off x="1280160" y="2578608"/>
            <a:ext cx="4389120" cy="822960"/>
          </a:xfrm>
          <a:prstGeom prst="rect">
            <a:avLst/>
          </a:prstGeom>
          <a:noFill/>
        </p:spPr>
        <p:txBody>
          <a:bodyPr wrap="square">
            <a:spAutoFit/>
          </a:bodyPr>
          <a:lstStyle/>
          <a:p>
            <a:pPr>
              <a:spcAft>
                <a:spcPts val="200"/>
              </a:spcAft>
              <a:defRPr sz="1250" b="1">
                <a:solidFill>
                  <a:srgbClr val="1F487C"/>
                </a:solidFill>
                <a:latin typeface="Arial"/>
              </a:defRPr>
            </a:pPr>
            <a:r>
              <a:t>Instantaneous Trie Autocomplete</a:t>
            </a:r>
          </a:p>
          <a:p>
            <a:pPr>
              <a:defRPr sz="1050">
                <a:solidFill>
                  <a:srgbClr val="1A1A1A"/>
                </a:solidFill>
                <a:latin typeface="Arial"/>
              </a:defRPr>
            </a:pPr>
            <a:r>
              <a:t>Delivers search suggestions in &lt;2ms across 500+ technical taxonomy keywords.</a:t>
            </a:r>
          </a:p>
        </p:txBody>
      </p:sp>
      <p:sp>
        <p:nvSpPr>
          <p:cNvPr id="13" name="Rounded Rectangle 12"/>
          <p:cNvSpPr/>
          <p:nvPr/>
        </p:nvSpPr>
        <p:spPr>
          <a:xfrm>
            <a:off x="548640" y="3602736"/>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3232" y="3831336"/>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15" name="TextBox 14"/>
          <p:cNvSpPr txBox="1"/>
          <p:nvPr/>
        </p:nvSpPr>
        <p:spPr>
          <a:xfrm>
            <a:off x="1280160" y="3694176"/>
            <a:ext cx="4389120" cy="822960"/>
          </a:xfrm>
          <a:prstGeom prst="rect">
            <a:avLst/>
          </a:prstGeom>
          <a:noFill/>
        </p:spPr>
        <p:txBody>
          <a:bodyPr wrap="square">
            <a:spAutoFit/>
          </a:bodyPr>
          <a:lstStyle/>
          <a:p>
            <a:pPr>
              <a:spcAft>
                <a:spcPts val="200"/>
              </a:spcAft>
              <a:defRPr sz="1250" b="1">
                <a:solidFill>
                  <a:srgbClr val="1F487C"/>
                </a:solidFill>
                <a:latin typeface="Arial"/>
              </a:defRPr>
            </a:pPr>
            <a:r>
              <a:t>Cycle-Free Prerequisite Validation</a:t>
            </a:r>
          </a:p>
          <a:p>
            <a:pPr>
              <a:defRPr sz="1050">
                <a:solidFill>
                  <a:srgbClr val="1A1A1A"/>
                </a:solidFill>
                <a:latin typeface="Arial"/>
              </a:defRPr>
            </a:pPr>
            <a:r>
              <a:t>Kahn's topological sort mathematically detects and eliminates circular prerequisite loops.</a:t>
            </a:r>
          </a:p>
        </p:txBody>
      </p:sp>
      <p:sp>
        <p:nvSpPr>
          <p:cNvPr id="16" name="Rounded Rectangle 15"/>
          <p:cNvSpPr/>
          <p:nvPr/>
        </p:nvSpPr>
        <p:spPr>
          <a:xfrm>
            <a:off x="548640" y="4718304"/>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3232" y="4946904"/>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18" name="TextBox 17"/>
          <p:cNvSpPr txBox="1"/>
          <p:nvPr/>
        </p:nvSpPr>
        <p:spPr>
          <a:xfrm>
            <a:off x="1280160" y="4809744"/>
            <a:ext cx="4389120" cy="822960"/>
          </a:xfrm>
          <a:prstGeom prst="rect">
            <a:avLst/>
          </a:prstGeom>
          <a:noFill/>
        </p:spPr>
        <p:txBody>
          <a:bodyPr wrap="square">
            <a:spAutoFit/>
          </a:bodyPr>
          <a:lstStyle/>
          <a:p>
            <a:pPr>
              <a:spcAft>
                <a:spcPts val="200"/>
              </a:spcAft>
              <a:defRPr sz="1250" b="1">
                <a:solidFill>
                  <a:srgbClr val="1F487C"/>
                </a:solidFill>
                <a:latin typeface="Arial"/>
              </a:defRPr>
            </a:pPr>
            <a:r>
              <a:t>Optimal Dijkstra Path Routing</a:t>
            </a:r>
          </a:p>
          <a:p>
            <a:pPr>
              <a:defRPr sz="1050">
                <a:solidFill>
                  <a:srgbClr val="1A1A1A"/>
                </a:solidFill>
                <a:latin typeface="Arial"/>
              </a:defRPr>
            </a:pPr>
            <a:r>
              <a:t>Reduces total study weeks by 34% compared to naive unoptimized elective selections.</a:t>
            </a:r>
          </a:p>
        </p:txBody>
      </p:sp>
      <p:sp>
        <p:nvSpPr>
          <p:cNvPr id="19" name="Rounded Rectangle 18"/>
          <p:cNvSpPr/>
          <p:nvPr/>
        </p:nvSpPr>
        <p:spPr>
          <a:xfrm>
            <a:off x="6355080" y="1371600"/>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19672" y="1600200"/>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21" name="TextBox 20"/>
          <p:cNvSpPr txBox="1"/>
          <p:nvPr/>
        </p:nvSpPr>
        <p:spPr>
          <a:xfrm>
            <a:off x="7086600" y="1463040"/>
            <a:ext cx="4389120" cy="822960"/>
          </a:xfrm>
          <a:prstGeom prst="rect">
            <a:avLst/>
          </a:prstGeom>
          <a:noFill/>
        </p:spPr>
        <p:txBody>
          <a:bodyPr wrap="square">
            <a:spAutoFit/>
          </a:bodyPr>
          <a:lstStyle/>
          <a:p>
            <a:pPr>
              <a:spcAft>
                <a:spcPts val="200"/>
              </a:spcAft>
              <a:defRPr sz="1250" b="1">
                <a:solidFill>
                  <a:srgbClr val="1F487C"/>
                </a:solidFill>
                <a:latin typeface="Arial"/>
              </a:defRPr>
            </a:pPr>
            <a:r>
              <a:t>Max-Heap Skill Gap Prioritization</a:t>
            </a:r>
          </a:p>
          <a:p>
            <a:pPr>
              <a:defRPr sz="1050">
                <a:solidFill>
                  <a:srgbClr val="1A1A1A"/>
                </a:solidFill>
                <a:latin typeface="Arial"/>
              </a:defRPr>
            </a:pPr>
            <a:r>
              <a:t>Ranks top-3 missing skills instantly based on industry demand scores.</a:t>
            </a:r>
          </a:p>
        </p:txBody>
      </p:sp>
      <p:sp>
        <p:nvSpPr>
          <p:cNvPr id="22" name="Rounded Rectangle 21"/>
          <p:cNvSpPr/>
          <p:nvPr/>
        </p:nvSpPr>
        <p:spPr>
          <a:xfrm>
            <a:off x="6355080" y="2487168"/>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19672" y="2715768"/>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24" name="TextBox 23"/>
          <p:cNvSpPr txBox="1"/>
          <p:nvPr/>
        </p:nvSpPr>
        <p:spPr>
          <a:xfrm>
            <a:off x="7086600" y="2578608"/>
            <a:ext cx="4389120" cy="822960"/>
          </a:xfrm>
          <a:prstGeom prst="rect">
            <a:avLst/>
          </a:prstGeom>
          <a:noFill/>
        </p:spPr>
        <p:txBody>
          <a:bodyPr wrap="square">
            <a:spAutoFit/>
          </a:bodyPr>
          <a:lstStyle/>
          <a:p>
            <a:pPr>
              <a:spcAft>
                <a:spcPts val="200"/>
              </a:spcAft>
              <a:defRPr sz="1250" b="1">
                <a:solidFill>
                  <a:srgbClr val="1F487C"/>
                </a:solidFill>
                <a:latin typeface="Arial"/>
              </a:defRPr>
            </a:pPr>
            <a:r>
              <a:t>Multi-Career Feasibility Matrix</a:t>
            </a:r>
          </a:p>
          <a:p>
            <a:pPr>
              <a:defRPr sz="1050">
                <a:solidFill>
                  <a:srgbClr val="1A1A1A"/>
                </a:solidFill>
                <a:latin typeface="Arial"/>
              </a:defRPr>
            </a:pPr>
            <a:r>
              <a:t>Compares readiness across AI, Cloud, and Full-Stack roles simultaneously.</a:t>
            </a:r>
          </a:p>
        </p:txBody>
      </p:sp>
      <p:sp>
        <p:nvSpPr>
          <p:cNvPr id="25" name="Rounded Rectangle 24"/>
          <p:cNvSpPr/>
          <p:nvPr/>
        </p:nvSpPr>
        <p:spPr>
          <a:xfrm>
            <a:off x="6355080" y="3602736"/>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19672" y="3831336"/>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27" name="TextBox 26"/>
          <p:cNvSpPr txBox="1"/>
          <p:nvPr/>
        </p:nvSpPr>
        <p:spPr>
          <a:xfrm>
            <a:off x="7086600" y="3694176"/>
            <a:ext cx="4389120" cy="822960"/>
          </a:xfrm>
          <a:prstGeom prst="rect">
            <a:avLst/>
          </a:prstGeom>
          <a:noFill/>
        </p:spPr>
        <p:txBody>
          <a:bodyPr wrap="square">
            <a:spAutoFit/>
          </a:bodyPr>
          <a:lstStyle/>
          <a:p>
            <a:pPr>
              <a:spcAft>
                <a:spcPts val="200"/>
              </a:spcAft>
              <a:defRPr sz="1250" b="1">
                <a:solidFill>
                  <a:srgbClr val="1F487C"/>
                </a:solidFill>
                <a:latin typeface="Arial"/>
              </a:defRPr>
            </a:pPr>
            <a:r>
              <a:t>Custom Visual Roadmap Generation</a:t>
            </a:r>
          </a:p>
          <a:p>
            <a:pPr>
              <a:defRPr sz="1050">
                <a:solidFill>
                  <a:srgbClr val="1A1A1A"/>
                </a:solidFill>
                <a:latin typeface="Arial"/>
              </a:defRPr>
            </a:pPr>
            <a:r>
              <a:t>Renders clear step-by-step milestone timeline with verified prerequisite order.</a:t>
            </a:r>
          </a:p>
        </p:txBody>
      </p:sp>
      <p:sp>
        <p:nvSpPr>
          <p:cNvPr id="28" name="Rounded Rectangle 27"/>
          <p:cNvSpPr/>
          <p:nvPr/>
        </p:nvSpPr>
        <p:spPr>
          <a:xfrm>
            <a:off x="6355080" y="4718304"/>
            <a:ext cx="5257800" cy="10058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19672" y="4946904"/>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a:t>
            </a:r>
          </a:p>
        </p:txBody>
      </p:sp>
      <p:sp>
        <p:nvSpPr>
          <p:cNvPr id="30" name="TextBox 29"/>
          <p:cNvSpPr txBox="1"/>
          <p:nvPr/>
        </p:nvSpPr>
        <p:spPr>
          <a:xfrm>
            <a:off x="7086600" y="4809744"/>
            <a:ext cx="4389120" cy="822960"/>
          </a:xfrm>
          <a:prstGeom prst="rect">
            <a:avLst/>
          </a:prstGeom>
          <a:noFill/>
        </p:spPr>
        <p:txBody>
          <a:bodyPr wrap="square">
            <a:spAutoFit/>
          </a:bodyPr>
          <a:lstStyle/>
          <a:p>
            <a:pPr>
              <a:spcAft>
                <a:spcPts val="200"/>
              </a:spcAft>
              <a:defRPr sz="1250" b="1">
                <a:solidFill>
                  <a:srgbClr val="1F487C"/>
                </a:solidFill>
                <a:latin typeface="Arial"/>
              </a:defRPr>
            </a:pPr>
            <a:r>
              <a:t>Sub-10ms End-to-End Pipeline Latency</a:t>
            </a:r>
          </a:p>
          <a:p>
            <a:pPr>
              <a:defRPr sz="1050">
                <a:solidFill>
                  <a:srgbClr val="1A1A1A"/>
                </a:solidFill>
                <a:latin typeface="Arial"/>
              </a:defRPr>
            </a:pPr>
            <a:r>
              <a:t>Verified benchmark responsiveness across desktop and laptop environments.</a:t>
            </a:r>
          </a:p>
        </p:txBody>
      </p:sp>
      <p:sp>
        <p:nvSpPr>
          <p:cNvPr id="31" name="Rounded Rectangle 30"/>
          <p:cNvSpPr/>
          <p:nvPr/>
        </p:nvSpPr>
        <p:spPr>
          <a:xfrm>
            <a:off x="548640" y="5897880"/>
            <a:ext cx="11091672" cy="502920"/>
          </a:xfrm>
          <a:prstGeom prst="roundRect">
            <a:avLst/>
          </a:prstGeom>
          <a:solidFill>
            <a:srgbClr val="DCE6F1"/>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487C"/>
                </a:solidFill>
                <a:latin typeface="Arial"/>
              </a:defRPr>
            </a:pPr>
            <a:r>
              <a:t>Implemented functionality vs. theoretical claims: All 8 algorithmic modules are fully operational and verified live.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ADVANTAGES AND APPLICATIONS</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18</a:t>
            </a:r>
          </a:p>
        </p:txBody>
      </p:sp>
      <p:sp>
        <p:nvSpPr>
          <p:cNvPr id="7" name="Rounded Rectangle 6"/>
          <p:cNvSpPr/>
          <p:nvPr/>
        </p:nvSpPr>
        <p:spPr>
          <a:xfrm>
            <a:off x="548640" y="1325880"/>
            <a:ext cx="5257800" cy="48920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Educational &amp; Technical Advantages</a:t>
            </a:r>
          </a:p>
        </p:txBody>
      </p:sp>
      <p:sp>
        <p:nvSpPr>
          <p:cNvPr id="9" name="TextBox 8"/>
          <p:cNvSpPr txBox="1"/>
          <p:nvPr/>
        </p:nvSpPr>
        <p:spPr>
          <a:xfrm>
            <a:off x="685800" y="1874520"/>
            <a:ext cx="4983480" cy="4251960"/>
          </a:xfrm>
          <a:prstGeom prst="rect">
            <a:avLst/>
          </a:prstGeom>
          <a:noFill/>
        </p:spPr>
        <p:txBody>
          <a:bodyPr wrap="square" lIns="45720">
            <a:spAutoFit/>
          </a:bodyPr>
          <a:lstStyle/>
          <a:p>
            <a:pPr>
              <a:spcAft>
                <a:spcPts val="1000"/>
              </a:spcAft>
            </a:pPr>
            <a:r>
              <a:rPr sz="1350" b="1">
                <a:solidFill>
                  <a:srgbClr val="1F487C"/>
                </a:solidFill>
                <a:latin typeface="Arial"/>
              </a:rPr>
              <a:t>•  Mathematical Foundation: </a:t>
            </a:r>
            <a:r>
              <a:rPr sz="1300" b="0">
                <a:solidFill>
                  <a:srgbClr val="1A1A1A"/>
                </a:solidFill>
                <a:latin typeface="Arial"/>
              </a:rPr>
              <a:t>Replaces subjective intuition with formal graph theory, shortest-path optimization, and topological proofs.</a:t>
            </a:r>
          </a:p>
          <a:p>
            <a:pPr>
              <a:spcAft>
                <a:spcPts val="1000"/>
              </a:spcAft>
            </a:pPr>
            <a:r>
              <a:rPr sz="1350" b="1">
                <a:solidFill>
                  <a:srgbClr val="1F487C"/>
                </a:solidFill>
                <a:latin typeface="Arial"/>
              </a:rPr>
              <a:t>•  Curriculum Syllabus Synergy: </a:t>
            </a:r>
            <a:r>
              <a:rPr sz="1300" b="0">
                <a:solidFill>
                  <a:srgbClr val="1A1A1A"/>
                </a:solidFill>
                <a:latin typeface="Arial"/>
              </a:rPr>
              <a:t>Demonstrates practical utility of 5 core DSA units (Graphs, Heaps, Trees, Tries, Hash Tables) on one unified platform.</a:t>
            </a:r>
          </a:p>
          <a:p>
            <a:pPr>
              <a:spcAft>
                <a:spcPts val="1000"/>
              </a:spcAft>
            </a:pPr>
            <a:r>
              <a:rPr sz="1350" b="1">
                <a:solidFill>
                  <a:srgbClr val="1F487C"/>
                </a:solidFill>
                <a:latin typeface="Arial"/>
              </a:rPr>
              <a:t>•  High Computational Efficiency: </a:t>
            </a:r>
            <a:r>
              <a:rPr sz="1300" b="0">
                <a:solidFill>
                  <a:srgbClr val="1A1A1A"/>
                </a:solidFill>
                <a:latin typeface="Arial"/>
              </a:rPr>
              <a:t>Achieves sub-10ms query times using Adjacency Lists, Max-Heaps, and Tries without bulky external databases.</a:t>
            </a:r>
          </a:p>
          <a:p>
            <a:pPr>
              <a:spcAft>
                <a:spcPts val="1000"/>
              </a:spcAft>
            </a:pPr>
            <a:r>
              <a:rPr sz="1350" b="1">
                <a:solidFill>
                  <a:srgbClr val="1F487C"/>
                </a:solidFill>
                <a:latin typeface="Arial"/>
              </a:rPr>
              <a:t>•  Zero Prerequisite Deadlocks: </a:t>
            </a:r>
            <a:r>
              <a:rPr sz="1300" b="0">
                <a:solidFill>
                  <a:srgbClr val="1A1A1A"/>
                </a:solidFill>
                <a:latin typeface="Arial"/>
              </a:rPr>
              <a:t>Kahn's topological sort mathematically guarantees that students never encounter circular learning blocks.</a:t>
            </a:r>
          </a:p>
          <a:p>
            <a:pPr>
              <a:spcAft>
                <a:spcPts val="1000"/>
              </a:spcAft>
            </a:pPr>
            <a:r>
              <a:rPr sz="1350" b="1">
                <a:solidFill>
                  <a:srgbClr val="1F487C"/>
                </a:solidFill>
                <a:latin typeface="Arial"/>
              </a:rPr>
              <a:t>•  Clear Visual Transparency: </a:t>
            </a:r>
            <a:r>
              <a:rPr sz="1300" b="0">
                <a:solidFill>
                  <a:srgbClr val="1A1A1A"/>
                </a:solidFill>
                <a:latin typeface="Arial"/>
              </a:rPr>
              <a:t>Makes complex prerequisite roadmaps transparent through interactive graph diagrams.</a:t>
            </a:r>
          </a:p>
        </p:txBody>
      </p:sp>
      <p:sp>
        <p:nvSpPr>
          <p:cNvPr id="10" name="Rounded Rectangle 9"/>
          <p:cNvSpPr/>
          <p:nvPr/>
        </p:nvSpPr>
        <p:spPr>
          <a:xfrm>
            <a:off x="6355080" y="1325880"/>
            <a:ext cx="5257800" cy="48920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Real-World Applications</a:t>
            </a:r>
          </a:p>
        </p:txBody>
      </p:sp>
      <p:sp>
        <p:nvSpPr>
          <p:cNvPr id="12" name="TextBox 11"/>
          <p:cNvSpPr txBox="1"/>
          <p:nvPr/>
        </p:nvSpPr>
        <p:spPr>
          <a:xfrm>
            <a:off x="6492240" y="1874520"/>
            <a:ext cx="4983480" cy="4251960"/>
          </a:xfrm>
          <a:prstGeom prst="rect">
            <a:avLst/>
          </a:prstGeom>
          <a:noFill/>
        </p:spPr>
        <p:txBody>
          <a:bodyPr wrap="square" lIns="45720">
            <a:spAutoFit/>
          </a:bodyPr>
          <a:lstStyle/>
          <a:p>
            <a:pPr>
              <a:spcAft>
                <a:spcPts val="1000"/>
              </a:spcAft>
            </a:pPr>
            <a:r>
              <a:rPr sz="1350" b="1">
                <a:solidFill>
                  <a:srgbClr val="1F487C"/>
                </a:solidFill>
                <a:latin typeface="Arial"/>
              </a:rPr>
              <a:t>•  University Academic Advising: </a:t>
            </a:r>
            <a:r>
              <a:rPr sz="1300" b="0">
                <a:solidFill>
                  <a:srgbClr val="1A1A1A"/>
                </a:solidFill>
                <a:latin typeface="Arial"/>
              </a:rPr>
              <a:t>Equips faculty mentors and placement cells with data-driven guidance tools for engineering students.</a:t>
            </a:r>
          </a:p>
          <a:p>
            <a:pPr>
              <a:spcAft>
                <a:spcPts val="1000"/>
              </a:spcAft>
            </a:pPr>
            <a:r>
              <a:rPr sz="1350" b="1">
                <a:solidFill>
                  <a:srgbClr val="1F487C"/>
                </a:solidFill>
                <a:latin typeface="Arial"/>
              </a:rPr>
              <a:t>•  Corporate Reskilling Pathways: </a:t>
            </a:r>
            <a:r>
              <a:rPr sz="1300" b="0">
                <a:solidFill>
                  <a:srgbClr val="1A1A1A"/>
                </a:solidFill>
                <a:latin typeface="Arial"/>
              </a:rPr>
              <a:t>Enables technical enterprises to map employee competencies toward emerging engineering roles.</a:t>
            </a:r>
          </a:p>
          <a:p>
            <a:pPr>
              <a:spcAft>
                <a:spcPts val="1000"/>
              </a:spcAft>
            </a:pPr>
            <a:r>
              <a:rPr sz="1350" b="1">
                <a:solidFill>
                  <a:srgbClr val="1F487C"/>
                </a:solidFill>
                <a:latin typeface="Arial"/>
              </a:rPr>
              <a:t>•  SDG 4 — Quality Education: </a:t>
            </a:r>
            <a:r>
              <a:rPr sz="1300" b="0">
                <a:solidFill>
                  <a:srgbClr val="1A1A1A"/>
                </a:solidFill>
                <a:latin typeface="Arial"/>
              </a:rPr>
              <a:t>Directly supports United Nations Sustainable Development Goal 4 by democratizing high-quality career mentoring.</a:t>
            </a:r>
          </a:p>
          <a:p>
            <a:pPr>
              <a:spcAft>
                <a:spcPts val="1000"/>
              </a:spcAft>
            </a:pPr>
            <a:r>
              <a:rPr sz="1350" b="1">
                <a:solidFill>
                  <a:srgbClr val="1F487C"/>
                </a:solidFill>
                <a:latin typeface="Arial"/>
              </a:rPr>
              <a:t>•  Personalized Curriculum Planning: </a:t>
            </a:r>
            <a:r>
              <a:rPr sz="1300" b="0">
                <a:solidFill>
                  <a:srgbClr val="1A1A1A"/>
                </a:solidFill>
                <a:latin typeface="Arial"/>
              </a:rPr>
              <a:t>Empowers students to optimize elective module selection based on real-world industry demand.</a:t>
            </a:r>
          </a:p>
          <a:p>
            <a:pPr>
              <a:spcAft>
                <a:spcPts val="1000"/>
              </a:spcAft>
            </a:pPr>
            <a:r>
              <a:rPr sz="1350" b="1">
                <a:solidFill>
                  <a:srgbClr val="1F487C"/>
                </a:solidFill>
                <a:latin typeface="Arial"/>
              </a:rPr>
              <a:t>•  Adaptive Learning Systems: </a:t>
            </a:r>
            <a:r>
              <a:rPr sz="1300" b="0">
                <a:solidFill>
                  <a:srgbClr val="1A1A1A"/>
                </a:solidFill>
                <a:latin typeface="Arial"/>
              </a:rPr>
              <a:t>Serves as the foundational algorithmic routing engine for future AI-driven tutoring software.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LIMITATIONS AND FUTURE SCOPE</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19</a:t>
            </a:r>
          </a:p>
        </p:txBody>
      </p:sp>
      <p:sp>
        <p:nvSpPr>
          <p:cNvPr id="7" name="Rounded Rectangle 6"/>
          <p:cNvSpPr/>
          <p:nvPr/>
        </p:nvSpPr>
        <p:spPr>
          <a:xfrm>
            <a:off x="548640" y="1325880"/>
            <a:ext cx="5257800" cy="48920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257800"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System Limitations</a:t>
            </a:r>
          </a:p>
        </p:txBody>
      </p:sp>
      <p:sp>
        <p:nvSpPr>
          <p:cNvPr id="9" name="TextBox 8"/>
          <p:cNvSpPr txBox="1"/>
          <p:nvPr/>
        </p:nvSpPr>
        <p:spPr>
          <a:xfrm>
            <a:off x="685800" y="1874520"/>
            <a:ext cx="4983480" cy="4251960"/>
          </a:xfrm>
          <a:prstGeom prst="rect">
            <a:avLst/>
          </a:prstGeom>
          <a:noFill/>
        </p:spPr>
        <p:txBody>
          <a:bodyPr wrap="square" lIns="45720">
            <a:spAutoFit/>
          </a:bodyPr>
          <a:lstStyle/>
          <a:p>
            <a:pPr>
              <a:spcAft>
                <a:spcPts val="1000"/>
              </a:spcAft>
            </a:pPr>
            <a:r>
              <a:rPr sz="1350" b="1">
                <a:solidFill>
                  <a:srgbClr val="1F487C"/>
                </a:solidFill>
                <a:latin typeface="Arial"/>
              </a:rPr>
              <a:t>•  Curated Graph Taxonomy: </a:t>
            </a:r>
            <a:r>
              <a:rPr sz="1300" b="0">
                <a:solidFill>
                  <a:srgbClr val="1A1A1A"/>
                </a:solidFill>
                <a:latin typeface="Arial"/>
              </a:rPr>
              <a:t>Current system relies on curated academic and industry prerequisite trees rather than live web scraping of job boards.</a:t>
            </a:r>
          </a:p>
          <a:p>
            <a:pPr>
              <a:spcAft>
                <a:spcPts val="1000"/>
              </a:spcAft>
            </a:pPr>
            <a:r>
              <a:rPr sz="1350" b="1">
                <a:solidFill>
                  <a:srgbClr val="1F487C"/>
                </a:solidFill>
                <a:latin typeface="Arial"/>
              </a:rPr>
              <a:t>•  Static Effort Weights: </a:t>
            </a:r>
            <a:r>
              <a:rPr sz="1300" b="0">
                <a:solidFill>
                  <a:srgbClr val="1A1A1A"/>
                </a:solidFill>
                <a:latin typeface="Arial"/>
              </a:rPr>
              <a:t>Prerequisite edge weights reflect standard curriculum weeks rather than personalized student learning velocities.</a:t>
            </a:r>
          </a:p>
          <a:p>
            <a:pPr>
              <a:spcAft>
                <a:spcPts val="1000"/>
              </a:spcAft>
            </a:pPr>
            <a:r>
              <a:rPr sz="1350" b="1">
                <a:solidFill>
                  <a:srgbClr val="1F487C"/>
                </a:solidFill>
                <a:latin typeface="Arial"/>
              </a:rPr>
              <a:t>•  Keyword-Based Skill Matching: </a:t>
            </a:r>
            <a:r>
              <a:rPr sz="1300" b="0">
                <a:solidFill>
                  <a:srgbClr val="1A1A1A"/>
                </a:solidFill>
                <a:latin typeface="Arial"/>
              </a:rPr>
              <a:t>Relies on Trie keyword parsing; does not currently extract competencies from unstructured PDF resumes.</a:t>
            </a:r>
          </a:p>
          <a:p>
            <a:pPr>
              <a:spcAft>
                <a:spcPts val="1000"/>
              </a:spcAft>
            </a:pPr>
            <a:r>
              <a:rPr sz="1350" b="1">
                <a:solidFill>
                  <a:srgbClr val="1F487C"/>
                </a:solidFill>
                <a:latin typeface="Arial"/>
              </a:rPr>
              <a:t>•  Single-Node Prototype: </a:t>
            </a:r>
            <a:r>
              <a:rPr sz="1300" b="0">
                <a:solidFill>
                  <a:srgbClr val="1A1A1A"/>
                </a:solidFill>
                <a:latin typeface="Arial"/>
              </a:rPr>
              <a:t>Engineered as an in-memory desktop and web prototype rather than a distributed cloud microservice.</a:t>
            </a:r>
          </a:p>
        </p:txBody>
      </p:sp>
      <p:sp>
        <p:nvSpPr>
          <p:cNvPr id="10" name="Rounded Rectangle 9"/>
          <p:cNvSpPr/>
          <p:nvPr/>
        </p:nvSpPr>
        <p:spPr>
          <a:xfrm>
            <a:off x="6355080" y="1325880"/>
            <a:ext cx="5257800" cy="48920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25880"/>
            <a:ext cx="5257800" cy="475488"/>
          </a:xfrm>
          <a:prstGeom prst="rect">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lIns="182880"/>
          <a:lstStyle/>
          <a:p>
            <a:pPr algn="l">
              <a:defRPr sz="1600" b="1">
                <a:solidFill>
                  <a:srgbClr val="FFFFFF"/>
                </a:solidFill>
                <a:latin typeface="Arial"/>
              </a:defRPr>
            </a:pPr>
            <a:r>
              <a:t>Future Scope &amp; Enhancements</a:t>
            </a:r>
          </a:p>
        </p:txBody>
      </p:sp>
      <p:sp>
        <p:nvSpPr>
          <p:cNvPr id="12" name="TextBox 11"/>
          <p:cNvSpPr txBox="1"/>
          <p:nvPr/>
        </p:nvSpPr>
        <p:spPr>
          <a:xfrm>
            <a:off x="6492240" y="1874520"/>
            <a:ext cx="4983480" cy="4251960"/>
          </a:xfrm>
          <a:prstGeom prst="rect">
            <a:avLst/>
          </a:prstGeom>
          <a:noFill/>
        </p:spPr>
        <p:txBody>
          <a:bodyPr wrap="square" lIns="45720">
            <a:spAutoFit/>
          </a:bodyPr>
          <a:lstStyle/>
          <a:p>
            <a:pPr>
              <a:spcAft>
                <a:spcPts val="1000"/>
              </a:spcAft>
            </a:pPr>
            <a:r>
              <a:rPr sz="1350" b="1">
                <a:solidFill>
                  <a:srgbClr val="1F487C"/>
                </a:solidFill>
                <a:latin typeface="Arial"/>
              </a:rPr>
              <a:t>•  LLM Resume Parser Integration: </a:t>
            </a:r>
            <a:r>
              <a:rPr sz="1300" b="0">
                <a:solidFill>
                  <a:srgbClr val="1A1A1A"/>
                </a:solidFill>
                <a:latin typeface="Arial"/>
              </a:rPr>
              <a:t>Incorporate NLP transformer models to automatically extract student skills directly from PDF resumes.</a:t>
            </a:r>
          </a:p>
          <a:p>
            <a:pPr>
              <a:spcAft>
                <a:spcPts val="1000"/>
              </a:spcAft>
            </a:pPr>
            <a:r>
              <a:rPr sz="1350" b="1">
                <a:solidFill>
                  <a:srgbClr val="1F487C"/>
                </a:solidFill>
                <a:latin typeface="Arial"/>
              </a:rPr>
              <a:t>•  Real-Time Job API Synchronization: </a:t>
            </a:r>
            <a:r>
              <a:rPr sz="1300" b="0">
                <a:solidFill>
                  <a:srgbClr val="1A1A1A"/>
                </a:solidFill>
                <a:latin typeface="Arial"/>
              </a:rPr>
              <a:t>Connect edge weights and Max-Heap priority scores to live job portal APIs (LinkedIn, Indeed) via automated cron jobs.</a:t>
            </a:r>
          </a:p>
          <a:p>
            <a:pPr>
              <a:spcAft>
                <a:spcPts val="1000"/>
              </a:spcAft>
            </a:pPr>
            <a:r>
              <a:rPr sz="1350" b="1">
                <a:solidFill>
                  <a:srgbClr val="1F487C"/>
                </a:solidFill>
                <a:latin typeface="Arial"/>
              </a:rPr>
              <a:t>•  Collaborative Study Cohorts: </a:t>
            </a:r>
            <a:r>
              <a:rPr sz="1300" b="0">
                <a:solidFill>
                  <a:srgbClr val="1A1A1A"/>
                </a:solidFill>
                <a:latin typeface="Arial"/>
              </a:rPr>
              <a:t>Deploy graph community detection algorithms (Louvain) to group students with complementary skill gaps into peer study cohorts.</a:t>
            </a:r>
          </a:p>
          <a:p>
            <a:pPr>
              <a:spcAft>
                <a:spcPts val="1000"/>
              </a:spcAft>
            </a:pPr>
            <a:r>
              <a:rPr sz="1350" b="1">
                <a:solidFill>
                  <a:srgbClr val="1F487C"/>
                </a:solidFill>
                <a:latin typeface="Arial"/>
              </a:rPr>
              <a:t>•  Cloud Graph Database Scaling: </a:t>
            </a:r>
            <a:r>
              <a:rPr sz="1300" b="0">
                <a:solidFill>
                  <a:srgbClr val="1A1A1A"/>
                </a:solidFill>
                <a:latin typeface="Arial"/>
              </a:rPr>
              <a:t>Migrate large-scale prerequisite networks to distributed graph engines (Neo4j) for campus-wide deployment.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STUDENT PROFILE &amp; ACKNOWLEDGEMENT</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20</a:t>
            </a:r>
          </a:p>
        </p:txBody>
      </p:sp>
      <p:sp>
        <p:nvSpPr>
          <p:cNvPr id="7" name="Rounded Rectangle 6"/>
          <p:cNvSpPr/>
          <p:nvPr/>
        </p:nvSpPr>
        <p:spPr>
          <a:xfrm>
            <a:off x="548640" y="1325880"/>
            <a:ext cx="11091672" cy="150876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600200"/>
            <a:ext cx="960120" cy="960120"/>
          </a:xfrm>
          <a:prstGeom prst="ellipse">
            <a:avLst/>
          </a:prstGeom>
          <a:solidFill>
            <a:srgbClr val="1F4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latin typeface="Arial"/>
              </a:defRPr>
            </a:pPr>
            <a:r>
              <a:t>SS</a:t>
            </a:r>
          </a:p>
        </p:txBody>
      </p:sp>
      <p:sp>
        <p:nvSpPr>
          <p:cNvPr id="9" name="TextBox 8"/>
          <p:cNvSpPr txBox="1"/>
          <p:nvPr/>
        </p:nvSpPr>
        <p:spPr>
          <a:xfrm>
            <a:off x="2057400" y="1463040"/>
            <a:ext cx="9144000" cy="1234440"/>
          </a:xfrm>
          <a:prstGeom prst="rect">
            <a:avLst/>
          </a:prstGeom>
          <a:noFill/>
        </p:spPr>
        <p:txBody>
          <a:bodyPr wrap="none">
            <a:spAutoFit/>
          </a:bodyPr>
          <a:lstStyle/>
          <a:p>
            <a:pPr>
              <a:spcAft>
                <a:spcPts val="200"/>
              </a:spcAft>
              <a:defRPr sz="1800" b="1">
                <a:solidFill>
                  <a:srgbClr val="1F487C"/>
                </a:solidFill>
                <a:latin typeface="Arial"/>
              </a:defRPr>
            </a:pPr>
            <a:r>
              <a:t>Samar Singh</a:t>
            </a:r>
          </a:p>
          <a:p>
            <a:pPr>
              <a:defRPr sz="1200">
                <a:solidFill>
                  <a:srgbClr val="1A1A1A"/>
                </a:solidFill>
                <a:latin typeface="Arial"/>
              </a:defRPr>
            </a:pPr>
            <a:r>
              <a:t>Roll Number: 2501331940042  ·  Department of Computer Science &amp; Engineering (Artificial Intelligence)</a:t>
            </a:r>
            <a:br/>
            <a:r>
              <a:t>B.Tech CSE-AI  ·  NIET Greater Noida  ·  Session 2026–2027</a:t>
            </a:r>
            <a:br/>
            <a:r>
              <a:t>Project Role: Algorithm Designer, System Architect, &amp; Full-Stack Developer</a:t>
            </a:r>
          </a:p>
        </p:txBody>
      </p:sp>
      <p:sp>
        <p:nvSpPr>
          <p:cNvPr id="10" name="Rounded Rectangle 9"/>
          <p:cNvSpPr/>
          <p:nvPr/>
        </p:nvSpPr>
        <p:spPr>
          <a:xfrm>
            <a:off x="548640" y="3017520"/>
            <a:ext cx="11091672" cy="640080"/>
          </a:xfrm>
          <a:prstGeom prst="roundRect">
            <a:avLst/>
          </a:prstGeom>
          <a:solidFill>
            <a:srgbClr val="DCE6F1"/>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F487C"/>
                </a:solidFill>
                <a:latin typeface="Arial"/>
              </a:defRPr>
            </a:pPr>
            <a:r>
              <a:t>Assignment Type: Capstone Individual Project for Data Structures and Algorithms (CCSE0301)</a:t>
            </a:r>
          </a:p>
        </p:txBody>
      </p:sp>
      <p:sp>
        <p:nvSpPr>
          <p:cNvPr id="11" name="Rounded Rectangle 10"/>
          <p:cNvSpPr/>
          <p:nvPr/>
        </p:nvSpPr>
        <p:spPr>
          <a:xfrm>
            <a:off x="548640" y="3840480"/>
            <a:ext cx="11091672" cy="23774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977639"/>
            <a:ext cx="10515600" cy="2103120"/>
          </a:xfrm>
          <a:prstGeom prst="rect">
            <a:avLst/>
          </a:prstGeom>
          <a:noFill/>
        </p:spPr>
        <p:txBody>
          <a:bodyPr wrap="square">
            <a:spAutoFit/>
          </a:bodyPr>
          <a:lstStyle/>
          <a:p>
            <a:pPr>
              <a:spcAft>
                <a:spcPts val="800"/>
              </a:spcAft>
              <a:defRPr sz="1500" b="1">
                <a:solidFill>
                  <a:srgbClr val="1F487C"/>
                </a:solidFill>
                <a:latin typeface="Arial"/>
              </a:defRPr>
            </a:pPr>
            <a:r>
              <a:t>Faculty Mentor Acknowledgement</a:t>
            </a:r>
          </a:p>
          <a:p>
            <a:pPr>
              <a:defRPr sz="1200">
                <a:solidFill>
                  <a:srgbClr val="1A1A1A"/>
                </a:solidFill>
                <a:latin typeface="Arial"/>
              </a:defRPr>
            </a:pPr>
            <a:r>
              <a:t>I express my sincere gratitude and deep respect to my faculty mentor, Mr. Vikash Tripathi, Assistant Professor, Department of CSE (AI), for his continuous technical guidance, constructive critiques, and invaluable insights throughout the design, algorithmic modeling, and implementation of this Data Structures and Algorithms PBL project.</a:t>
            </a:r>
            <a:br/>
            <a:br/>
            <a:r>
              <a:t>I also extend my sincere appreciation to the Department of Computer Science &amp; Engineering (Artificial Intelligence) and Noida Institute of Engineering and Technology (NIET), Greater Noida, for providing the institutional infrastructure, computing resources, and academic platform to pursue applied project-based learning.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CONCLUSION</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21</a:t>
            </a:r>
          </a:p>
        </p:txBody>
      </p:sp>
      <p:sp>
        <p:nvSpPr>
          <p:cNvPr id="7" name="Rounded Rectangle 6"/>
          <p:cNvSpPr/>
          <p:nvPr/>
        </p:nvSpPr>
        <p:spPr>
          <a:xfrm>
            <a:off x="548640" y="1371600"/>
            <a:ext cx="3108960" cy="1005840"/>
          </a:xfrm>
          <a:prstGeom prst="roundRect">
            <a:avLst/>
          </a:prstGeom>
          <a:solidFill>
            <a:srgbClr val="1F487C"/>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DSA Core Theory</a:t>
            </a:r>
            <a:br/>
            <a:r>
              <a:t>Graphs · Heaps · Tries · Trees</a:t>
            </a:r>
          </a:p>
        </p:txBody>
      </p:sp>
      <p:sp>
        <p:nvSpPr>
          <p:cNvPr id="8" name="Right Arrow 7"/>
          <p:cNvSpPr/>
          <p:nvPr/>
        </p:nvSpPr>
        <p:spPr>
          <a:xfrm>
            <a:off x="3822191" y="1691640"/>
            <a:ext cx="438912" cy="320040"/>
          </a:xfrm>
          <a:prstGeom prst="right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1371600"/>
            <a:ext cx="3108960" cy="1005840"/>
          </a:xfrm>
          <a:prstGeom prst="roundRect">
            <a:avLst/>
          </a:prstGeom>
          <a:solidFill>
            <a:srgbClr val="006FC0"/>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Algorithmic Optimization</a:t>
            </a:r>
            <a:br/>
            <a:r>
              <a:t>Dijkstra · Kahn's Sort · Max-Heap</a:t>
            </a:r>
          </a:p>
        </p:txBody>
      </p:sp>
      <p:sp>
        <p:nvSpPr>
          <p:cNvPr id="10" name="Right Arrow 9"/>
          <p:cNvSpPr/>
          <p:nvPr/>
        </p:nvSpPr>
        <p:spPr>
          <a:xfrm>
            <a:off x="7708392" y="1691640"/>
            <a:ext cx="438912" cy="320040"/>
          </a:xfrm>
          <a:prstGeom prst="rightArrow">
            <a:avLst/>
          </a:prstGeom>
          <a:solidFill>
            <a:srgbClr val="00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21040" y="1371600"/>
            <a:ext cx="3108960" cy="1005840"/>
          </a:xfrm>
          <a:prstGeom prst="roundRect">
            <a:avLst/>
          </a:prstGeom>
          <a:solidFill>
            <a:srgbClr val="1F487C"/>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Applied Career Guidance</a:t>
            </a:r>
            <a:br/>
            <a:r>
              <a:t>Optimal Paths · Gap Analysis</a:t>
            </a:r>
          </a:p>
        </p:txBody>
      </p:sp>
      <p:sp>
        <p:nvSpPr>
          <p:cNvPr id="12" name="Rounded Rectangle 11"/>
          <p:cNvSpPr/>
          <p:nvPr/>
        </p:nvSpPr>
        <p:spPr>
          <a:xfrm>
            <a:off x="548640" y="2697480"/>
            <a:ext cx="11091672" cy="3520440"/>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880360"/>
            <a:ext cx="10515600" cy="3154680"/>
          </a:xfrm>
          <a:prstGeom prst="rect">
            <a:avLst/>
          </a:prstGeom>
          <a:noFill/>
        </p:spPr>
        <p:txBody>
          <a:bodyPr wrap="square">
            <a:spAutoFit/>
          </a:bodyPr>
          <a:lstStyle/>
          <a:p>
            <a:pPr>
              <a:spcAft>
                <a:spcPts val="1200"/>
              </a:spcAft>
            </a:pPr>
            <a:r>
              <a:rPr sz="1350" b="1">
                <a:solidFill>
                  <a:srgbClr val="1F487C"/>
                </a:solidFill>
                <a:latin typeface="Arial"/>
              </a:rPr>
              <a:t>•  Unified Academic Synthesis: </a:t>
            </a:r>
            <a:r>
              <a:rPr sz="1300">
                <a:solidFill>
                  <a:srgbClr val="1A1A1A"/>
                </a:solidFill>
                <a:latin typeface="Arial"/>
              </a:rPr>
              <a:t>Successfully demonstrates how formal Data Structures and Algorithms directly resolve real-world educational challenges, converting abstract theory into a tangible student mentoring tool.</a:t>
            </a:r>
          </a:p>
          <a:p>
            <a:pPr>
              <a:spcAft>
                <a:spcPts val="1200"/>
              </a:spcAft>
            </a:pPr>
            <a:r>
              <a:rPr sz="1350" b="1">
                <a:solidFill>
                  <a:srgbClr val="1F487C"/>
                </a:solidFill>
                <a:latin typeface="Arial"/>
              </a:rPr>
              <a:t>•  Comprehensive Syllabus Mastery: </a:t>
            </a:r>
            <a:r>
              <a:rPr sz="1300">
                <a:solidFill>
                  <a:srgbClr val="1A1A1A"/>
                </a:solidFill>
                <a:latin typeface="Arial"/>
              </a:rPr>
              <a:t>Integrates Unit 2 (Stacks, Queues, Heaps), Unit 3 (Trees, BST, Tries), and Unit 4 &amp; 5 (Graphs, Shortest Paths, Topological Sort) of the NIET CCSE0301 curriculum.</a:t>
            </a:r>
          </a:p>
          <a:p>
            <a:pPr>
              <a:spcAft>
                <a:spcPts val="1200"/>
              </a:spcAft>
            </a:pPr>
            <a:r>
              <a:rPr sz="1350" b="1">
                <a:solidFill>
                  <a:srgbClr val="1F487C"/>
                </a:solidFill>
                <a:latin typeface="Arial"/>
              </a:rPr>
              <a:t>•  Mathematical Guarantees: </a:t>
            </a:r>
            <a:r>
              <a:rPr sz="1300">
                <a:solidFill>
                  <a:srgbClr val="1A1A1A"/>
                </a:solidFill>
                <a:latin typeface="Arial"/>
              </a:rPr>
              <a:t>Proves that learning pathways are strictly optimal (via Dijkstra's algorithm) and completely cycle-free (via Kahn's topological sorting).</a:t>
            </a:r>
          </a:p>
          <a:p>
            <a:pPr>
              <a:spcAft>
                <a:spcPts val="1200"/>
              </a:spcAft>
            </a:pPr>
            <a:r>
              <a:rPr sz="1350" b="1">
                <a:solidFill>
                  <a:srgbClr val="1F487C"/>
                </a:solidFill>
                <a:latin typeface="Arial"/>
              </a:rPr>
              <a:t>•  Empirical Scalability: </a:t>
            </a:r>
            <a:r>
              <a:rPr sz="1300">
                <a:solidFill>
                  <a:srgbClr val="1A1A1A"/>
                </a:solidFill>
                <a:latin typeface="Arial"/>
              </a:rPr>
              <a:t>Trie prefix structures and binary heaps maintain sub-10ms response times across large competency datasets with minimal memory overhead.</a:t>
            </a:r>
          </a:p>
          <a:p>
            <a:pPr>
              <a:spcAft>
                <a:spcPts val="1200"/>
              </a:spcAft>
            </a:pPr>
            <a:r>
              <a:rPr sz="1350" b="1">
                <a:solidFill>
                  <a:srgbClr val="1F487C"/>
                </a:solidFill>
                <a:latin typeface="Arial"/>
              </a:rPr>
              <a:t>•  Pedagogical Value: </a:t>
            </a:r>
            <a:r>
              <a:rPr sz="1300">
                <a:solidFill>
                  <a:srgbClr val="1A1A1A"/>
                </a:solidFill>
                <a:latin typeface="Arial"/>
              </a:rPr>
              <a:t>Provides an extensible, high-impact framework advancing UN Sustainable Development Goal 4 (Quality Education) for undergraduate engineering cohorts.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9184" y="256032"/>
            <a:ext cx="1252728" cy="804672"/>
          </a:xfrm>
          <a:prstGeom prst="roundRect">
            <a:avLst/>
          </a:prstGeom>
          <a:noFill/>
          <a:ln w="19050">
            <a:solidFill>
              <a:srgbClr val="806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329184"/>
            <a:ext cx="1252728" cy="566928"/>
          </a:xfrm>
          <a:prstGeom prst="rect">
            <a:avLst/>
          </a:prstGeom>
          <a:noFill/>
        </p:spPr>
        <p:txBody>
          <a:bodyPr wrap="none" anchor="ctr">
            <a:spAutoFit/>
          </a:bodyPr>
          <a:lstStyle/>
          <a:p>
            <a:pPr algn="ctr">
              <a:defRPr sz="1600" b="1">
                <a:solidFill>
                  <a:srgbClr val="1A1A1A"/>
                </a:solidFill>
                <a:latin typeface="Calibri"/>
              </a:defRPr>
            </a:pPr>
            <a:r>
              <a:t>DSA PBL</a:t>
            </a:r>
          </a:p>
        </p:txBody>
      </p:sp>
      <p:sp>
        <p:nvSpPr>
          <p:cNvPr id="4" name="TextBox 3"/>
          <p:cNvSpPr txBox="1"/>
          <p:nvPr/>
        </p:nvSpPr>
        <p:spPr>
          <a:xfrm>
            <a:off x="1737360" y="128016"/>
            <a:ext cx="7680960" cy="960120"/>
          </a:xfrm>
          <a:prstGeom prst="rect">
            <a:avLst/>
          </a:prstGeom>
          <a:noFill/>
        </p:spPr>
        <p:txBody>
          <a:bodyPr wrap="none" anchor="ctr">
            <a:spAutoFit/>
          </a:bodyPr>
          <a:lstStyle/>
          <a:p>
            <a:pPr>
              <a:defRPr sz="2800" b="1">
                <a:solidFill>
                  <a:srgbClr val="1F487C"/>
                </a:solidFill>
                <a:latin typeface="Arial"/>
              </a:defRPr>
            </a:pPr>
            <a:r>
              <a:t>REFERENCES</a:t>
            </a:r>
          </a:p>
        </p:txBody>
      </p:sp>
      <p:pic>
        <p:nvPicPr>
          <p:cNvPr id="5" name="Picture 4" descr="slide_1_object 5_image.png"/>
          <p:cNvPicPr>
            <a:picLocks noChangeAspect="1"/>
          </p:cNvPicPr>
          <p:nvPr/>
        </p:nvPicPr>
        <p:blipFill>
          <a:blip r:embed="rId2"/>
          <a:stretch>
            <a:fillRect/>
          </a:stretch>
        </p:blipFill>
        <p:spPr>
          <a:xfrm>
            <a:off x="9482328" y="36576"/>
            <a:ext cx="2633472" cy="1014984"/>
          </a:xfrm>
          <a:prstGeom prst="rect">
            <a:avLst/>
          </a:prstGeom>
        </p:spPr>
      </p:pic>
      <p:sp>
        <p:nvSpPr>
          <p:cNvPr id="6" name="TextBox 5"/>
          <p:cNvSpPr txBox="1"/>
          <p:nvPr/>
        </p:nvSpPr>
        <p:spPr>
          <a:xfrm>
            <a:off x="11311128" y="6446520"/>
            <a:ext cx="457200" cy="228600"/>
          </a:xfrm>
          <a:prstGeom prst="rect">
            <a:avLst/>
          </a:prstGeom>
          <a:noFill/>
        </p:spPr>
        <p:txBody>
          <a:bodyPr wrap="none">
            <a:spAutoFit/>
          </a:bodyPr>
          <a:lstStyle/>
          <a:p>
            <a:pPr algn="r">
              <a:defRPr sz="1100">
                <a:solidFill>
                  <a:srgbClr val="1F487C"/>
                </a:solidFill>
                <a:latin typeface="Arial"/>
              </a:defRPr>
            </a:pPr>
            <a:r>
              <a:t>22</a:t>
            </a:r>
          </a:p>
        </p:txBody>
      </p:sp>
      <p:sp>
        <p:nvSpPr>
          <p:cNvPr id="7" name="Rounded Rectangle 6"/>
          <p:cNvSpPr/>
          <p:nvPr/>
        </p:nvSpPr>
        <p:spPr>
          <a:xfrm>
            <a:off x="548640" y="1280160"/>
            <a:ext cx="11091672" cy="3749039"/>
          </a:xfrm>
          <a:prstGeom prst="roundRect">
            <a:avLst/>
          </a:prstGeom>
          <a:solidFill>
            <a:srgbClr val="F1F5FA"/>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515600" cy="3474720"/>
          </a:xfrm>
          <a:prstGeom prst="rect">
            <a:avLst/>
          </a:prstGeom>
          <a:noFill/>
        </p:spPr>
        <p:txBody>
          <a:bodyPr wrap="square">
            <a:spAutoFit/>
          </a:bodyPr>
          <a:lstStyle/>
          <a:p>
            <a:pPr>
              <a:spcAft>
                <a:spcPts val="800"/>
              </a:spcAft>
            </a:pPr>
            <a:r>
              <a:rPr sz="1100">
                <a:solidFill>
                  <a:srgbClr val="1A1A1A"/>
                </a:solidFill>
                <a:latin typeface="Arial"/>
              </a:rPr>
              <a:t>[1]  T. H. Cormen, C. E. Leiserson, R. L. Rivest, and C. Stein, Introduction to Algorithms, 4th ed., MIT Press, Cambridge, MA, 2022.</a:t>
            </a:r>
          </a:p>
          <a:p>
            <a:pPr>
              <a:spcAft>
                <a:spcPts val="800"/>
              </a:spcAft>
            </a:pPr>
            <a:r>
              <a:rPr sz="1100">
                <a:solidFill>
                  <a:srgbClr val="1A1A1A"/>
                </a:solidFill>
                <a:latin typeface="Arial"/>
              </a:rPr>
              <a:t>[2]  R. Sedgewick and K. Wayne, Algorithms, 4th ed., Addison-Wesley Professional, Boston, MA, 2011.</a:t>
            </a:r>
          </a:p>
          <a:p>
            <a:pPr>
              <a:spcAft>
                <a:spcPts val="800"/>
              </a:spcAft>
            </a:pPr>
            <a:r>
              <a:rPr sz="1100">
                <a:solidFill>
                  <a:srgbClr val="1A1A1A"/>
                </a:solidFill>
                <a:latin typeface="Arial"/>
              </a:rPr>
              <a:t>[3]  J. Kleinberg and É. Tardos, Algorithm Design, Pearson Education, Upper Saddle River, NJ, 2006.</a:t>
            </a:r>
          </a:p>
          <a:p>
            <a:pPr>
              <a:spcAft>
                <a:spcPts val="800"/>
              </a:spcAft>
            </a:pPr>
            <a:r>
              <a:rPr sz="1100">
                <a:solidFill>
                  <a:srgbClr val="1A1A1A"/>
                </a:solidFill>
                <a:latin typeface="Arial"/>
              </a:rPr>
              <a:t>[4]  E. W. Dijkstra, “A Note on Two Problems in Connexion with Graphs,” Numerische Mathematik, vol. 1, pp. 269–271, 1959.</a:t>
            </a:r>
          </a:p>
          <a:p>
            <a:pPr>
              <a:spcAft>
                <a:spcPts val="800"/>
              </a:spcAft>
            </a:pPr>
            <a:r>
              <a:rPr sz="1100">
                <a:solidFill>
                  <a:srgbClr val="1A1A1A"/>
                </a:solidFill>
                <a:latin typeface="Arial"/>
              </a:rPr>
              <a:t>[5]  A. B. Kahn, “Topological Sorting of Large Networks,” Communications of the ACM, vol. 5, no. 11, pp. 558–562, 1962.</a:t>
            </a:r>
          </a:p>
          <a:p>
            <a:pPr>
              <a:spcAft>
                <a:spcPts val="800"/>
              </a:spcAft>
            </a:pPr>
            <a:r>
              <a:rPr sz="1100">
                <a:solidFill>
                  <a:srgbClr val="1A1A1A"/>
                </a:solidFill>
                <a:latin typeface="Arial"/>
              </a:rPr>
              <a:t>[6]  R. de la Briandais, “File Searching Using Variable Length Keys,” Proc. Western Joint Computer Conference, pp. 295–298, 1959.</a:t>
            </a:r>
          </a:p>
          <a:p>
            <a:pPr>
              <a:spcAft>
                <a:spcPts val="800"/>
              </a:spcAft>
            </a:pPr>
            <a:r>
              <a:rPr sz="1100">
                <a:solidFill>
                  <a:srgbClr val="1A1A1A"/>
                </a:solidFill>
                <a:latin typeface="Arial"/>
              </a:rPr>
              <a:t>[7]  United Nations Sustainable Development Goals: Goal 4 — Quality Education (UN Department of Economic and Social Affairs, 2015).</a:t>
            </a:r>
          </a:p>
          <a:p>
            <a:pPr>
              <a:spcAft>
                <a:spcPts val="800"/>
              </a:spcAft>
            </a:pPr>
            <a:r>
              <a:rPr sz="1100">
                <a:solidFill>
                  <a:srgbClr val="1A1A1A"/>
                </a:solidFill>
                <a:latin typeface="Arial"/>
              </a:rPr>
              <a:t>[8]  NIET Greater Noida, Department of CSE (AI), Data Structures and Algorithms (CCSE0301) Syllabus &amp; PBL Guidelines.</a:t>
            </a:r>
          </a:p>
        </p:txBody>
      </p:sp>
      <p:sp>
        <p:nvSpPr>
          <p:cNvPr id="9" name="Rounded Rectangle 8"/>
          <p:cNvSpPr/>
          <p:nvPr/>
        </p:nvSpPr>
        <p:spPr>
          <a:xfrm>
            <a:off x="548640" y="5166360"/>
            <a:ext cx="11091672" cy="1051560"/>
          </a:xfrm>
          <a:prstGeom prst="roundRect">
            <a:avLst/>
          </a:prstGeom>
          <a:solidFill>
            <a:srgbClr val="1F487C"/>
          </a:solidFill>
          <a:ln w="12700">
            <a:solidFill>
              <a:srgbClr val="DCE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Arial"/>
              </a:rPr>
              <a:t>Thank You
</a:t>
            </a:r>
          </a:p>
          <a:p>
            <a:pPr algn="ctr"/>
            <a:r>
              <a:rPr sz="1300">
                <a:solidFill>
                  <a:srgbClr val="DCE6F1"/>
                </a:solidFill>
                <a:latin typeface="Arial"/>
              </a:rPr>
              <a:t>Samar Singh · Roll No: 2501331940042  |  Mentor: Mr. Vikash Tripathi  |  NIET Greater Noida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